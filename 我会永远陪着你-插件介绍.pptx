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58200" y="566928"/>
            <a:ext cx="73152" cy="73152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83496" y="566928"/>
            <a:ext cx="73152" cy="73152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08792" y="566928"/>
            <a:ext cx="73152" cy="73152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58200" y="1920240"/>
            <a:ext cx="73152" cy="73152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83496" y="1920240"/>
            <a:ext cx="73152" cy="73152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08792" y="1920240"/>
            <a:ext cx="73152" cy="73152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58200" y="3273552"/>
            <a:ext cx="73152" cy="73152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124712"/>
            <a:ext cx="3246120" cy="32461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66928"/>
            <a:ext cx="2331720" cy="310896"/>
          </a:xfrm>
          <a:prstGeom prst="roundRect">
            <a:avLst>
              <a:gd name="adj" fmla="val 8000"/>
            </a:avLst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"/>
            <a:ext cx="23317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SC"/>
              </a:rPr>
              <a:t>ASTRBOT PLUGIN · V5.10.4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298448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Noto Serif SC"/>
              </a:rPr>
              <a:t>我会永远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075688"/>
            <a:ext cx="68580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D5A746"/>
                </a:solidFill>
                <a:latin typeface="Noto Serif SC"/>
              </a:rPr>
              <a:t>陪着你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127248"/>
            <a:ext cx="6309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5EEE8"/>
                </a:solidFill>
                <a:latin typeface="Noto Sans SC"/>
              </a:rPr>
              <a:t>让 Bot 像人一样活着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749039"/>
            <a:ext cx="6126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9CB9A5"/>
                </a:solidFill>
                <a:latin typeface="Noto Sans SC"/>
              </a:rPr>
              <a:t>状态、日程、关系与记忆持续运转，
再把生活里的念头变成自然的行动。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502920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5033772"/>
            <a:ext cx="11887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SC"/>
              </a:rPr>
              <a:t>生活连续性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8256" y="502920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48256" y="5033772"/>
            <a:ext cx="11887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SC"/>
              </a:rPr>
              <a:t>主动行为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1568" y="502920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5033772"/>
            <a:ext cx="11887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SC"/>
              </a:rPr>
              <a:t>多模态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5029200"/>
            <a:ext cx="1188720" cy="310896"/>
          </a:xfrm>
          <a:prstGeom prst="roundRect">
            <a:avLst>
              <a:gd name="adj" fmla="val 8000"/>
            </a:avLst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5033772"/>
            <a:ext cx="11887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oto Sans SC"/>
              </a:rPr>
              <a:t>长期创作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6172200"/>
            <a:ext cx="6035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9CB9A5"/>
                </a:solidFill>
                <a:latin typeface="Noto Sans SC"/>
              </a:rPr>
              <a:t>github.com/menglimi/astrbot_plugin_private_companion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4882896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SC"/>
              </a:rPr>
              <a:t>持续陪伴编排层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5321808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B9A5"/>
                </a:solidFill>
                <a:latin typeface="Noto Sans SC"/>
              </a:rPr>
              <a:t>不是定时问候，而是一条长期体验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9CB9A5"/>
                </a:solidFill>
                <a:latin typeface="Noto Sans SC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520"/>
                </a:solidFill>
                <a:latin typeface="Noto Sans SC"/>
              </a:rPr>
              <a:t>当你不说话时，Bot 还存在吗？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5736D"/>
                </a:solidFill>
                <a:latin typeface="Noto Sans SC"/>
              </a:rPr>
              <a:t>从一轮问答，走向持续存在的角色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475488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2029968"/>
            <a:ext cx="960120" cy="310896"/>
          </a:xfrm>
          <a:prstGeom prst="roundRect">
            <a:avLst>
              <a:gd name="adj" fmla="val 8000"/>
            </a:avLst>
          </a:prstGeom>
          <a:solidFill>
            <a:srgbClr val="657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34540"/>
            <a:ext cx="960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SC"/>
              </a:rPr>
              <a:t>传统聊天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651760"/>
            <a:ext cx="135331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 SC"/>
              </a:rPr>
              <a:t>你发消息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2578608"/>
            <a:ext cx="1444752" cy="475488"/>
          </a:xfrm>
          <a:prstGeom prst="roundRect">
            <a:avLst>
              <a:gd name="adj" fmla="val 8000"/>
            </a:avLst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310128"/>
            <a:ext cx="1325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72520"/>
                </a:solidFill>
                <a:latin typeface="Noto Sans SC"/>
              </a:rPr>
              <a:t>Bot 回答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3227832"/>
            <a:ext cx="1481328" cy="493776"/>
          </a:xfrm>
          <a:prstGeom prst="roundRect">
            <a:avLst>
              <a:gd name="adj" fmla="val 8000"/>
            </a:avLst>
          </a:prstGeom>
          <a:solidFill>
            <a:srgbClr val="EEF2E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2395728" y="2816352"/>
            <a:ext cx="850392" cy="640080"/>
          </a:xfrm>
          <a:prstGeom prst="line">
            <a:avLst/>
          </a:prstGeom>
          <a:ln w="2540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29968" y="4233672"/>
            <a:ext cx="2240280" cy="0"/>
          </a:xfrm>
          <a:prstGeom prst="line">
            <a:avLst/>
          </a:prstGeom>
          <a:ln w="1651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103120" y="4187952"/>
            <a:ext cx="82296" cy="82296"/>
          </a:xfrm>
          <a:prstGeom prst="ellipse">
            <a:avLst/>
          </a:prstGeom>
          <a:solidFill>
            <a:srgbClr val="D8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23160" y="4187952"/>
            <a:ext cx="82296" cy="82296"/>
          </a:xfrm>
          <a:prstGeom prst="ellipse">
            <a:avLst/>
          </a:prstGeom>
          <a:solidFill>
            <a:srgbClr val="D8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43200" y="4187952"/>
            <a:ext cx="82296" cy="82296"/>
          </a:xfrm>
          <a:prstGeom prst="ellipse">
            <a:avLst/>
          </a:prstGeom>
          <a:solidFill>
            <a:srgbClr val="D8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63239" y="4187952"/>
            <a:ext cx="82296" cy="82296"/>
          </a:xfrm>
          <a:prstGeom prst="ellipse">
            <a:avLst/>
          </a:prstGeom>
          <a:solidFill>
            <a:srgbClr val="D8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83279" y="4187952"/>
            <a:ext cx="82296" cy="82296"/>
          </a:xfrm>
          <a:prstGeom prst="ellipse">
            <a:avLst/>
          </a:prstGeom>
          <a:solidFill>
            <a:srgbClr val="D8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03320" y="4187952"/>
            <a:ext cx="82296" cy="82296"/>
          </a:xfrm>
          <a:prstGeom prst="ellipse">
            <a:avLst/>
          </a:prstGeom>
          <a:solidFill>
            <a:srgbClr val="D8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23359" y="4187952"/>
            <a:ext cx="82296" cy="82296"/>
          </a:xfrm>
          <a:prstGeom prst="ellipse">
            <a:avLst/>
          </a:prstGeom>
          <a:solidFill>
            <a:srgbClr val="D8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736592"/>
            <a:ext cx="404164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C96E5A"/>
                </a:solidFill>
                <a:latin typeface="Noto Sans SC"/>
              </a:rPr>
              <a:t>会话结束，状态归零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239512"/>
            <a:ext cx="3931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70" b="0">
                <a:solidFill>
                  <a:srgbClr val="65736D"/>
                </a:solidFill>
                <a:latin typeface="Noto Sans SC"/>
              </a:rPr>
              <a:t>昨天的关系、今天的生活、下一步的行动彼此割裂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79592" y="1783080"/>
            <a:ext cx="5669280" cy="4160520"/>
          </a:xfrm>
          <a:prstGeom prst="roundRect">
            <a:avLst>
              <a:gd name="adj" fmla="val 8000"/>
            </a:avLst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81344" y="2029968"/>
            <a:ext cx="1078992" cy="310896"/>
          </a:xfrm>
          <a:prstGeom prst="roundRect">
            <a:avLst>
              <a:gd name="adj" fmla="val 8000"/>
            </a:avLst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1344" y="2034540"/>
            <a:ext cx="107899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SC"/>
              </a:rPr>
              <a:t>持续陪伴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46520" y="3822191"/>
            <a:ext cx="4498848" cy="0"/>
          </a:xfrm>
          <a:prstGeom prst="line">
            <a:avLst/>
          </a:prstGeom>
          <a:ln w="27940">
            <a:solidFill>
              <a:srgbClr val="4E8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272784" y="3575304"/>
            <a:ext cx="502920" cy="502920"/>
          </a:xfrm>
          <a:prstGeom prst="ellipse">
            <a:avLst/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3602736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SC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71616" y="2770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72520"/>
                </a:solidFill>
                <a:latin typeface="Noto Sans SC"/>
              </a:rPr>
              <a:t>昨天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8736" y="4251960"/>
            <a:ext cx="1280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65736D"/>
                </a:solidFill>
                <a:latin typeface="Noto Sans SC"/>
              </a:rPr>
              <a:t>留下未完话题</a:t>
            </a:r>
          </a:p>
        </p:txBody>
      </p:sp>
      <p:sp>
        <p:nvSpPr>
          <p:cNvPr id="32" name="Oval 31"/>
          <p:cNvSpPr/>
          <p:nvPr/>
        </p:nvSpPr>
        <p:spPr>
          <a:xfrm>
            <a:off x="7616952" y="3575304"/>
            <a:ext cx="502920" cy="502920"/>
          </a:xfrm>
          <a:prstGeom prst="ellipse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16952" y="3602736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S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5783" y="2770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72520"/>
                </a:solidFill>
                <a:latin typeface="Noto Sans SC"/>
              </a:rPr>
              <a:t>今天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2904" y="4251960"/>
            <a:ext cx="1280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65736D"/>
                </a:solidFill>
                <a:latin typeface="Noto Sans SC"/>
              </a:rPr>
              <a:t>状态与日程运转</a:t>
            </a:r>
          </a:p>
        </p:txBody>
      </p:sp>
      <p:sp>
        <p:nvSpPr>
          <p:cNvPr id="36" name="Oval 35"/>
          <p:cNvSpPr/>
          <p:nvPr/>
        </p:nvSpPr>
        <p:spPr>
          <a:xfrm>
            <a:off x="8961120" y="3575304"/>
            <a:ext cx="502920" cy="502920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3602736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S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9952" y="2770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72520"/>
                </a:solidFill>
                <a:latin typeface="Noto Sans SC"/>
              </a:rPr>
              <a:t>此刻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7072" y="4251960"/>
            <a:ext cx="1280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65736D"/>
                </a:solidFill>
                <a:latin typeface="Noto Sans SC"/>
              </a:rPr>
              <a:t>判断是否适合开口</a:t>
            </a:r>
          </a:p>
        </p:txBody>
      </p:sp>
      <p:sp>
        <p:nvSpPr>
          <p:cNvPr id="40" name="Oval 39"/>
          <p:cNvSpPr/>
          <p:nvPr/>
        </p:nvSpPr>
        <p:spPr>
          <a:xfrm>
            <a:off x="10305288" y="3575304"/>
            <a:ext cx="502920" cy="502920"/>
          </a:xfrm>
          <a:prstGeom prst="ellipse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05288" y="3602736"/>
            <a:ext cx="502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S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19" y="2770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172520"/>
                </a:solidFill>
                <a:latin typeface="Noto Sans SC"/>
              </a:rPr>
              <a:t>以后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4251960"/>
            <a:ext cx="12801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0">
                <a:solidFill>
                  <a:srgbClr val="65736D"/>
                </a:solidFill>
                <a:latin typeface="Noto Sans SC"/>
              </a:rPr>
              <a:t>行动写回关系与记忆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129784"/>
            <a:ext cx="50109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2F5A49"/>
                </a:solidFill>
                <a:latin typeface="Noto Sans SC"/>
              </a:rPr>
              <a:t>同一个角色，在聊天之外继续生活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5A746"/>
                </a:solidFill>
                <a:latin typeface="Noto Sans SC"/>
              </a:rPr>
              <a:t>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</a:rPr>
              <a:t>拟人不是堆设定，而是像人一样活着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D5A746"/>
                </a:solidFill>
                <a:latin typeface="Noto Sans SC"/>
              </a:rPr>
              <a:t>03</a:t>
            </a:r>
          </a:p>
        </p:txBody>
      </p:sp>
      <p:pic>
        <p:nvPicPr>
          <p:cNvPr id="5" name="Picture 4" descr="logo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75488"/>
            <a:ext cx="1417320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1572768"/>
            <a:ext cx="640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D5A746"/>
                </a:solidFill>
                <a:latin typeface="Noto Serif SC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91640"/>
            <a:ext cx="90525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00" b="1">
                <a:solidFill>
                  <a:srgbClr val="FFFFFF"/>
                </a:solidFill>
                <a:latin typeface="Noto Serif SC"/>
              </a:rPr>
              <a:t>Bot 先在自己的世界里形成想法，
再在生活的空隙里把想法变成行动。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429000"/>
            <a:ext cx="2487168" cy="2057400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3675887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E8067"/>
                </a:solidFill>
                <a:latin typeface="Noto Sans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096512"/>
            <a:ext cx="19751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Noto Sans SC"/>
              </a:rPr>
              <a:t>连续生活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617720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>
                <a:solidFill>
                  <a:srgbClr val="9CB9A5"/>
                </a:solidFill>
                <a:latin typeface="Noto Sans SC"/>
              </a:rPr>
              <a:t>状态、日程、位置和天气不随会话清零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3429000"/>
            <a:ext cx="2487168" cy="2057400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4" y="3675887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57F9C"/>
                </a:solidFill>
                <a:latin typeface="Noto Sans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4096512"/>
            <a:ext cx="19751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Noto Sans SC"/>
              </a:rPr>
              <a:t>稳定关系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4617720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>
                <a:solidFill>
                  <a:srgbClr val="9CB9A5"/>
                </a:solidFill>
                <a:latin typeface="Noto Sans SC"/>
              </a:rPr>
              <a:t>主要用户、次要用户与群友保持不同边界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3429000"/>
            <a:ext cx="2487168" cy="2057400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4536" y="3675887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65B76"/>
                </a:solidFill>
                <a:latin typeface="Noto Sans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4096512"/>
            <a:ext cx="19751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Noto Sans SC"/>
              </a:rPr>
              <a:t>形成念头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4617720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>
                <a:solidFill>
                  <a:srgbClr val="9CB9A5"/>
                </a:solidFill>
                <a:latin typeface="Noto Sans SC"/>
              </a:rPr>
              <a:t>见闻、目标、梦境与未完话题成为候选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3429000"/>
            <a:ext cx="2487168" cy="2057400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3675887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96E5A"/>
                </a:solidFill>
                <a:latin typeface="Noto Sans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4096512"/>
            <a:ext cx="19751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Noto Sans SC"/>
              </a:rPr>
              <a:t>选择时机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4617720"/>
            <a:ext cx="1975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>
                <a:solidFill>
                  <a:srgbClr val="9CB9A5"/>
                </a:solidFill>
                <a:latin typeface="Noto Sans SC"/>
              </a:rPr>
              <a:t>免打扰、休息、繁忙与回应情况决定是否行动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4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9CB9A5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9CB9A5"/>
                </a:solidFill>
                <a:latin typeface="Noto Sans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520"/>
                </a:solidFill>
                <a:latin typeface="Noto Sans SC"/>
              </a:rPr>
              <a:t>两条链路，共用同一个角色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5736D"/>
                </a:solidFill>
                <a:latin typeface="Noto Sans SC"/>
              </a:rPr>
              <a:t>被动回复理解“此刻”，主动消息延续“生活”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7335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77924"/>
            <a:ext cx="10972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SC"/>
              </a:rPr>
              <a:t>被动回复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22576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172520"/>
                </a:solidFill>
                <a:latin typeface="Noto Sans SC"/>
              </a:rPr>
              <a:t>用户消息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9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>
                <a:solidFill>
                  <a:srgbClr val="65736D"/>
                </a:solidFill>
                <a:latin typeface="Noto Sans SC"/>
              </a:rPr>
              <a:t>文本 / 图片 / 转发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32887" y="2633472"/>
            <a:ext cx="301752" cy="0"/>
          </a:xfrm>
          <a:prstGeom prst="line">
            <a:avLst/>
          </a:prstGeom>
          <a:ln w="25400">
            <a:solidFill>
              <a:srgbClr val="557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16936" y="21488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322576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172520"/>
                </a:solidFill>
                <a:latin typeface="Noto Sans SC"/>
              </a:rPr>
              <a:t>当前上下文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679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>
                <a:solidFill>
                  <a:srgbClr val="65736D"/>
                </a:solidFill>
                <a:latin typeface="Noto Sans SC"/>
              </a:rPr>
              <a:t>时间 / 状态 / 日程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91456" y="2633472"/>
            <a:ext cx="301752" cy="0"/>
          </a:xfrm>
          <a:prstGeom prst="line">
            <a:avLst/>
          </a:prstGeom>
          <a:ln w="25400">
            <a:solidFill>
              <a:srgbClr val="557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75504" y="21488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2322576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172520"/>
                </a:solidFill>
                <a:latin typeface="Noto Sans SC"/>
              </a:rPr>
              <a:t>关系与记忆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2679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>
                <a:solidFill>
                  <a:srgbClr val="65736D"/>
                </a:solidFill>
                <a:latin typeface="Noto Sans SC"/>
              </a:rPr>
              <a:t>称呼 / 画像 / 话题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50024" y="2633472"/>
            <a:ext cx="301751" cy="0"/>
          </a:xfrm>
          <a:prstGeom prst="line">
            <a:avLst/>
          </a:prstGeom>
          <a:ln w="25400">
            <a:solidFill>
              <a:srgbClr val="557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34072" y="21488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6" y="2322576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172520"/>
                </a:solidFill>
                <a:latin typeface="Noto Sans SC"/>
              </a:rPr>
              <a:t>发送前处理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679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>
                <a:solidFill>
                  <a:srgbClr val="65736D"/>
                </a:solidFill>
                <a:latin typeface="Noto Sans SC"/>
              </a:rPr>
              <a:t>归属 / 重复 / TTS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08592" y="2633472"/>
            <a:ext cx="301752" cy="0"/>
          </a:xfrm>
          <a:prstGeom prst="line">
            <a:avLst/>
          </a:prstGeom>
          <a:ln w="25400">
            <a:solidFill>
              <a:srgbClr val="557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92640" y="21488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38944" y="2322576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172520"/>
                </a:solidFill>
                <a:latin typeface="Noto Sans SC"/>
              </a:rPr>
              <a:t>自然回复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6791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>
                <a:solidFill>
                  <a:srgbClr val="65736D"/>
                </a:solidFill>
                <a:latin typeface="Noto Sans SC"/>
              </a:rPr>
              <a:t>仍由主模型表达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730752"/>
            <a:ext cx="1097280" cy="310896"/>
          </a:xfrm>
          <a:prstGeom prst="roundRect">
            <a:avLst>
              <a:gd name="adj" fmla="val 8000"/>
            </a:avLst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735324"/>
            <a:ext cx="109728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Noto Sans SC"/>
              </a:rPr>
              <a:t>主动消息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2062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7E5E0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379976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172520"/>
                </a:solidFill>
                <a:latin typeface="Noto Sans SC"/>
              </a:rPr>
              <a:t>生活事件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7365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>
                <a:solidFill>
                  <a:srgbClr val="65736D"/>
                </a:solidFill>
                <a:latin typeface="Noto Sans SC"/>
              </a:rPr>
              <a:t>日程 / 天气 / 目标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32887" y="4690872"/>
            <a:ext cx="301752" cy="0"/>
          </a:xfrm>
          <a:prstGeom prst="line">
            <a:avLst/>
          </a:prstGeom>
          <a:ln w="25400">
            <a:solidFill>
              <a:srgbClr val="C9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916936" y="42062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7E5E0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40" y="4379976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172520"/>
                </a:solidFill>
                <a:latin typeface="Noto Sans SC"/>
              </a:rPr>
              <a:t>形成候选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35808" y="47365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>
                <a:solidFill>
                  <a:srgbClr val="65736D"/>
                </a:solidFill>
                <a:latin typeface="Noto Sans SC"/>
              </a:rPr>
              <a:t>来源 / 时间窗 / 价值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791456" y="4690872"/>
            <a:ext cx="301752" cy="0"/>
          </a:xfrm>
          <a:prstGeom prst="line">
            <a:avLst/>
          </a:prstGeom>
          <a:ln w="25400">
            <a:solidFill>
              <a:srgbClr val="C9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175504" y="42062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21808" y="4379976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172520"/>
                </a:solidFill>
                <a:latin typeface="Noto Sans SC"/>
              </a:rPr>
              <a:t>边界判断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94376" y="47365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>
                <a:solidFill>
                  <a:srgbClr val="65736D"/>
                </a:solidFill>
                <a:latin typeface="Noto Sans SC"/>
              </a:rPr>
              <a:t>关系 / 休息 / 额度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50024" y="4690872"/>
            <a:ext cx="301751" cy="0"/>
          </a:xfrm>
          <a:prstGeom prst="line">
            <a:avLst/>
          </a:prstGeom>
          <a:ln w="25400">
            <a:solidFill>
              <a:srgbClr val="C9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434072" y="42062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0376" y="4379976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172520"/>
                </a:solidFill>
                <a:latin typeface="Noto Sans SC"/>
              </a:rPr>
              <a:t>生成与复核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52944" y="47365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>
                <a:solidFill>
                  <a:srgbClr val="65736D"/>
                </a:solidFill>
                <a:latin typeface="Noto Sans SC"/>
              </a:rPr>
              <a:t>内容 / 动作 / 人格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308592" y="4690872"/>
            <a:ext cx="301752" cy="0"/>
          </a:xfrm>
          <a:prstGeom prst="line">
            <a:avLst/>
          </a:prstGeom>
          <a:ln w="25400">
            <a:solidFill>
              <a:srgbClr val="C9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692640" y="420624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38944" y="4379976"/>
            <a:ext cx="1581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30" b="1">
                <a:solidFill>
                  <a:srgbClr val="172520"/>
                </a:solidFill>
                <a:latin typeface="Noto Sans SC"/>
              </a:rPr>
              <a:t>发送与写回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11512" y="4736592"/>
            <a:ext cx="1645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40" b="0">
                <a:solidFill>
                  <a:srgbClr val="65736D"/>
                </a:solidFill>
                <a:latin typeface="Noto Sans SC"/>
              </a:rPr>
              <a:t>审计 / 记忆 / 排程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52544" y="5559552"/>
            <a:ext cx="3493008" cy="530352"/>
          </a:xfrm>
          <a:prstGeom prst="roundRect">
            <a:avLst>
              <a:gd name="adj" fmla="val 8000"/>
            </a:avLst>
          </a:prstGeom>
          <a:solidFill>
            <a:srgbClr val="2F5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52544" y="5596128"/>
            <a:ext cx="34930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Noto Sans SC"/>
              </a:rPr>
              <a:t>人格 · 状态 · 关系 · 记忆始终共用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A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520"/>
                </a:solidFill>
                <a:latin typeface="Noto Sans SC"/>
              </a:rPr>
              <a:t>她的一天不是固定剧本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5736D"/>
                </a:solidFill>
                <a:latin typeface="Noto Sans SC"/>
              </a:rPr>
              <a:t>先有日程框架，临近时段再由细化模型补足地点、活动与可分享碎片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87552" y="3218688"/>
            <a:ext cx="10213848" cy="0"/>
          </a:xfrm>
          <a:prstGeom prst="line">
            <a:avLst/>
          </a:prstGeom>
          <a:ln w="5080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60120" y="2971800"/>
            <a:ext cx="502920" cy="502920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999232"/>
            <a:ext cx="502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SC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166420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29514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D5A746"/>
                </a:solidFill>
                <a:latin typeface="Noto Sans SC"/>
              </a:rPr>
              <a:t>07:30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2551176"/>
            <a:ext cx="13533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2520"/>
                </a:solidFill>
                <a:latin typeface="Noto Sans SC"/>
              </a:rPr>
              <a:t>醒来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843784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>
                <a:solidFill>
                  <a:srgbClr val="65736D"/>
                </a:solidFill>
                <a:latin typeface="Noto Sans SC"/>
              </a:rPr>
              <a:t>天气与睡眠余波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07008" y="2971800"/>
            <a:ext cx="0" cy="237744"/>
          </a:xfrm>
          <a:prstGeom prst="line">
            <a:avLst/>
          </a:prstGeom>
          <a:ln w="15240">
            <a:solidFill>
              <a:srgbClr val="D5A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154680" y="2971800"/>
            <a:ext cx="502920" cy="502920"/>
          </a:xfrm>
          <a:prstGeom prst="ellipse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2999232"/>
            <a:ext cx="502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S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675887"/>
            <a:ext cx="166420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8376" y="3822191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57F9C"/>
                </a:solidFill>
                <a:latin typeface="Noto Sans SC"/>
              </a:rPr>
              <a:t>10:00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4078224"/>
            <a:ext cx="13533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2520"/>
                </a:solidFill>
                <a:latin typeface="Noto Sans SC"/>
              </a:rPr>
              <a:t>工作 / 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4370831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>
                <a:solidFill>
                  <a:srgbClr val="65736D"/>
                </a:solidFill>
                <a:latin typeface="Noto Sans SC"/>
              </a:rPr>
              <a:t>繁忙时普通回复延后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01568" y="3474720"/>
            <a:ext cx="0" cy="201167"/>
          </a:xfrm>
          <a:prstGeom prst="line">
            <a:avLst/>
          </a:prstGeom>
          <a:ln w="15240">
            <a:solidFill>
              <a:srgbClr val="557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349240" y="2971800"/>
            <a:ext cx="502920" cy="502920"/>
          </a:xfrm>
          <a:prstGeom prst="ellipse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2999232"/>
            <a:ext cx="502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SC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148840"/>
            <a:ext cx="166420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2936" y="229514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E8067"/>
                </a:solidFill>
                <a:latin typeface="Noto Sans SC"/>
              </a:rPr>
              <a:t>13:10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2551176"/>
            <a:ext cx="13533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2520"/>
                </a:solidFill>
                <a:latin typeface="Noto Sans SC"/>
              </a:rPr>
              <a:t>午后见闻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2843784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>
                <a:solidFill>
                  <a:srgbClr val="65736D"/>
                </a:solidFill>
                <a:latin typeface="Noto Sans SC"/>
              </a:rPr>
              <a:t>新闻、目标或群聊话题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96127" y="2971800"/>
            <a:ext cx="0" cy="237744"/>
          </a:xfrm>
          <a:prstGeom prst="line">
            <a:avLst/>
          </a:prstGeom>
          <a:ln w="15240">
            <a:solidFill>
              <a:srgbClr val="4E8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543800" y="2971800"/>
            <a:ext cx="502920" cy="502920"/>
          </a:xfrm>
          <a:prstGeom prst="ellipse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2999232"/>
            <a:ext cx="502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SC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3675887"/>
            <a:ext cx="166420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97496" y="3822191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C96E5A"/>
                </a:solidFill>
                <a:latin typeface="Noto Sans SC"/>
              </a:rPr>
              <a:t>18:30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97496" y="4078224"/>
            <a:ext cx="13533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2520"/>
                </a:solidFill>
                <a:latin typeface="Noto Sans SC"/>
              </a:rPr>
              <a:t>回家途中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7496" y="4370831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>
                <a:solidFill>
                  <a:srgbClr val="65736D"/>
                </a:solidFill>
                <a:latin typeface="Noto Sans SC"/>
              </a:rPr>
              <a:t>位置切换带移动过程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90688" y="3474720"/>
            <a:ext cx="0" cy="201167"/>
          </a:xfrm>
          <a:prstGeom prst="line">
            <a:avLst/>
          </a:prstGeom>
          <a:ln w="15240">
            <a:solidFill>
              <a:srgbClr val="C9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738360" y="2971800"/>
            <a:ext cx="502920" cy="502920"/>
          </a:xfrm>
          <a:prstGeom prst="ellipse">
            <a:avLst/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2999232"/>
            <a:ext cx="50292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 SC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2148840"/>
            <a:ext cx="1664208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92056" y="229514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65B76"/>
                </a:solidFill>
                <a:latin typeface="Noto Sans SC"/>
              </a:rPr>
              <a:t>23:40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92056" y="2551176"/>
            <a:ext cx="13533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2520"/>
                </a:solidFill>
                <a:latin typeface="Noto Sans SC"/>
              </a:rPr>
              <a:t>日记与梦境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92056" y="2843784"/>
            <a:ext cx="13533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>
                <a:solidFill>
                  <a:srgbClr val="65736D"/>
                </a:solidFill>
                <a:latin typeface="Noto Sans SC"/>
              </a:rPr>
              <a:t>当天经历写回长期体验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985248" y="2971800"/>
            <a:ext cx="0" cy="237744"/>
          </a:xfrm>
          <a:prstGeom prst="line">
            <a:avLst/>
          </a:prstGeom>
          <a:ln w="15240">
            <a:solidFill>
              <a:srgbClr val="765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96112" y="5212080"/>
            <a:ext cx="10378440" cy="621792"/>
          </a:xfrm>
          <a:prstGeom prst="roundRect">
            <a:avLst>
              <a:gd name="adj" fmla="val 8000"/>
            </a:avLst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38581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2F5A49"/>
                </a:solidFill>
                <a:latin typeface="Noto Sans SC"/>
              </a:rPr>
              <a:t>连续性原则  </a:t>
            </a:r>
            <a:r>
              <a:rPr sz="1120" b="0">
                <a:solidFill>
                  <a:srgbClr val="65736D"/>
                </a:solidFill>
                <a:latin typeface="Noto Sans SC"/>
              </a:rPr>
              <a:t>地点变化写出移动过程；用户本轮明确场景优先；睡眠与繁忙闸门默认关闭。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5A746"/>
                </a:solidFill>
                <a:latin typeface="Noto Sans SC"/>
              </a:rPr>
              <a:t>PROACTIVE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</a:rPr>
              <a:t>主动消息：先有念头，再决定要不要说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D5A746"/>
                </a:solidFill>
                <a:latin typeface="Noto Sans S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SC"/>
              </a:rPr>
              <a:t>候选来源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057400"/>
            <a:ext cx="320040" cy="320040"/>
          </a:xfrm>
          <a:prstGeom prst="ellipse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66543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E5EEE8"/>
                </a:solidFill>
                <a:latin typeface="Noto Sans SC"/>
              </a:rPr>
              <a:t>日程与状态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212848"/>
            <a:ext cx="502920" cy="1280160"/>
          </a:xfrm>
          <a:prstGeom prst="line">
            <a:avLst/>
          </a:prstGeom>
          <a:ln w="12700">
            <a:solidFill>
              <a:srgbClr val="294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2633472"/>
            <a:ext cx="320040" cy="320040"/>
          </a:xfrm>
          <a:prstGeom prst="ellipse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642615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E5EEE8"/>
                </a:solidFill>
                <a:latin typeface="Noto Sans SC"/>
              </a:rPr>
              <a:t>天气突变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788920"/>
            <a:ext cx="502920" cy="704088"/>
          </a:xfrm>
          <a:prstGeom prst="line">
            <a:avLst/>
          </a:prstGeom>
          <a:ln w="12700">
            <a:solidFill>
              <a:srgbClr val="294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13232" y="3209544"/>
            <a:ext cx="320040" cy="320040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18687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E5EEE8"/>
                </a:solidFill>
                <a:latin typeface="Noto Sans SC"/>
              </a:rPr>
              <a:t>新闻与搜索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3364991"/>
            <a:ext cx="502920" cy="128017"/>
          </a:xfrm>
          <a:prstGeom prst="line">
            <a:avLst/>
          </a:prstGeom>
          <a:ln w="12700">
            <a:solidFill>
              <a:srgbClr val="294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13232" y="3785616"/>
            <a:ext cx="320040" cy="320040"/>
          </a:xfrm>
          <a:prstGeom prst="ellipse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79476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E5EEE8"/>
                </a:solidFill>
                <a:latin typeface="Noto Sans SC"/>
              </a:rPr>
              <a:t>关系与话题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743200" y="3493008"/>
            <a:ext cx="502920" cy="448056"/>
          </a:xfrm>
          <a:prstGeom prst="line">
            <a:avLst/>
          </a:prstGeom>
          <a:ln w="12700">
            <a:solidFill>
              <a:srgbClr val="294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13232" y="4361688"/>
            <a:ext cx="320040" cy="320040"/>
          </a:xfrm>
          <a:prstGeom prst="ellipse">
            <a:avLst/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370831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E5EEE8"/>
                </a:solidFill>
                <a:latin typeface="Noto Sans SC"/>
              </a:rPr>
              <a:t>梦境与创作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743200" y="3493008"/>
            <a:ext cx="502920" cy="1024128"/>
          </a:xfrm>
          <a:prstGeom prst="line">
            <a:avLst/>
          </a:prstGeom>
          <a:ln w="12700">
            <a:solidFill>
              <a:srgbClr val="294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3232" y="4937760"/>
            <a:ext cx="320040" cy="320040"/>
          </a:xfrm>
          <a:prstGeom prst="ellipse">
            <a:avLst/>
          </a:prstGeom>
          <a:solidFill>
            <a:srgbClr val="9CB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946904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E5EEE8"/>
                </a:solidFill>
                <a:latin typeface="Noto Sans SC"/>
              </a:rPr>
              <a:t>便签与约定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743200" y="3493008"/>
            <a:ext cx="502920" cy="1600200"/>
          </a:xfrm>
          <a:prstGeom prst="line">
            <a:avLst/>
          </a:prstGeom>
          <a:ln w="12700">
            <a:solidFill>
              <a:srgbClr val="294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01568" y="1572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SC"/>
              </a:rPr>
              <a:t>候选生命周期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4468" y="2084831"/>
            <a:ext cx="4535424" cy="475488"/>
          </a:xfrm>
          <a:prstGeom prst="roundRect">
            <a:avLst>
              <a:gd name="adj" fmla="val 8000"/>
            </a:avLst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4468" y="2116836"/>
            <a:ext cx="45354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FFFFFF"/>
                </a:solidFill>
                <a:latin typeface="Noto Sans SC"/>
              </a:rPr>
              <a:t>时间窗与价值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73652" y="2743200"/>
            <a:ext cx="3877056" cy="475488"/>
          </a:xfrm>
          <a:prstGeom prst="roundRect">
            <a:avLst>
              <a:gd name="adj" fmla="val 8000"/>
            </a:avLst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73652" y="2775204"/>
            <a:ext cx="38770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FFFFFF"/>
                </a:solidFill>
                <a:latin typeface="Noto Sans SC"/>
              </a:rPr>
              <a:t>关系与回应边界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2836" y="3401568"/>
            <a:ext cx="3218688" cy="475488"/>
          </a:xfrm>
          <a:prstGeom prst="roundRect">
            <a:avLst>
              <a:gd name="adj" fmla="val 8000"/>
            </a:avLst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2836" y="3433572"/>
            <a:ext cx="3218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FFFFFF"/>
                </a:solidFill>
                <a:latin typeface="Noto Sans SC"/>
              </a:rPr>
              <a:t>免打扰 / 休息 / 繁忙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32020" y="4059935"/>
            <a:ext cx="2560320" cy="475488"/>
          </a:xfrm>
          <a:prstGeom prst="roundRect">
            <a:avLst>
              <a:gd name="adj" fmla="val 8000"/>
            </a:avLst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2020" y="4091939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FFFFFF"/>
                </a:solidFill>
                <a:latin typeface="Noto Sans SC"/>
              </a:rPr>
              <a:t>人格判断与动作选择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61204" y="4718304"/>
            <a:ext cx="1901952" cy="475488"/>
          </a:xfrm>
          <a:prstGeom prst="roundRect">
            <a:avLst>
              <a:gd name="adj" fmla="val 8000"/>
            </a:avLst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61204" y="4750308"/>
            <a:ext cx="1901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FFFFFF"/>
                </a:solidFill>
                <a:latin typeface="Noto Sans SC"/>
              </a:rPr>
              <a:t>发送前复核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1572768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 SC"/>
              </a:rPr>
              <a:t>真实动作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33104" y="2103120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79408" y="2176272"/>
            <a:ext cx="365760" cy="365760"/>
          </a:xfrm>
          <a:prstGeom prst="ellipse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9408" y="2185415"/>
            <a:ext cx="365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TX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22128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FFFFFF"/>
                </a:solidFill>
                <a:latin typeface="Noto Sans SC"/>
              </a:rPr>
              <a:t>文字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33104" y="2779776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979408" y="2852928"/>
            <a:ext cx="365760" cy="365760"/>
          </a:xfrm>
          <a:prstGeom prst="ellipse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79408" y="2862072"/>
            <a:ext cx="365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28895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FFFFFF"/>
                </a:solidFill>
                <a:latin typeface="Noto Sans SC"/>
              </a:rPr>
              <a:t>图片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33104" y="3456432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979408" y="3529584"/>
            <a:ext cx="365760" cy="365760"/>
          </a:xfrm>
          <a:prstGeom prst="ellipse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9408" y="3538727"/>
            <a:ext cx="365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VO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35661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FFFFFF"/>
                </a:solidFill>
                <a:latin typeface="Noto Sans SC"/>
              </a:rPr>
              <a:t>语音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33104" y="4133087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9408" y="4206240"/>
            <a:ext cx="365760" cy="365760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79408" y="4215383"/>
            <a:ext cx="365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0" y="42428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FFFFFF"/>
                </a:solidFill>
                <a:latin typeface="Noto Sans SC"/>
              </a:rPr>
              <a:t>戳一戳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33104" y="4809744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979408" y="4882896"/>
            <a:ext cx="365760" cy="365760"/>
          </a:xfrm>
          <a:prstGeom prst="ellipse">
            <a:avLst/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79408" y="4892040"/>
            <a:ext cx="365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49194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>
                <a:solidFill>
                  <a:srgbClr val="FFFFFF"/>
                </a:solidFill>
                <a:latin typeface="Noto Sans SC"/>
              </a:rPr>
              <a:t>外部能力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5800" y="5687568"/>
            <a:ext cx="10515600" cy="475488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5751576"/>
            <a:ext cx="10149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1">
                <a:solidFill>
                  <a:srgbClr val="E5EEE8"/>
                </a:solidFill>
                <a:latin typeface="Noto Sans SC"/>
              </a:rPr>
              <a:t>面板会记录来源、状态、拦截原因和发送诊断：没发，也应该解释得清楚。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4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9CB9A5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9CB9A5"/>
                </a:solidFill>
                <a:latin typeface="Noto Sans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520"/>
                </a:solidFill>
                <a:latin typeface="Noto Sans SC"/>
              </a:rPr>
              <a:t>认识不同的人，也看得懂群聊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5736D"/>
                </a:solidFill>
                <a:latin typeface="Noto Sans SC"/>
              </a:rPr>
              <a:t>关系事实、表达风格与群聊观察分别维护，减少串人和越界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520"/>
                </a:solidFill>
                <a:latin typeface="Noto Sans SC"/>
              </a:rPr>
              <a:t>私聊关系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157984"/>
            <a:ext cx="2487168" cy="1874519"/>
          </a:xfrm>
          <a:prstGeom prst="roundRect">
            <a:avLst>
              <a:gd name="adj" fmla="val 8000"/>
            </a:avLst>
          </a:prstGeom>
          <a:solidFill>
            <a:srgbClr val="1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2084831"/>
            <a:ext cx="248716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340863"/>
            <a:ext cx="475488" cy="475488"/>
          </a:xfrm>
          <a:prstGeom prst="ellipse">
            <a:avLst/>
          </a:prstGeom>
          <a:solidFill>
            <a:srgbClr val="2F5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50007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Noto Sans SC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31343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520"/>
                </a:solidFill>
                <a:latin typeface="Noto Sans SC"/>
              </a:rPr>
              <a:t>主要用户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89503"/>
            <a:ext cx="193852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65736D"/>
                </a:solidFill>
                <a:latin typeface="Noto Sans SC"/>
              </a:rPr>
              <a:t>核心陪伴对象，同时视为插件管理员。可使用主要用户专属关系、书柜夹层、识屏与跨群转述。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157984"/>
            <a:ext cx="2487168" cy="1874519"/>
          </a:xfrm>
          <a:prstGeom prst="roundRect">
            <a:avLst>
              <a:gd name="adj" fmla="val 8000"/>
            </a:avLst>
          </a:prstGeom>
          <a:solidFill>
            <a:srgbClr val="1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64992" y="2084831"/>
            <a:ext cx="2487168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2340863"/>
            <a:ext cx="475488" cy="475488"/>
          </a:xfrm>
          <a:prstGeom prst="ellipse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350007"/>
            <a:ext cx="4754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Noto Sans SC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15384" y="2313432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520"/>
                </a:solidFill>
                <a:latin typeface="Noto Sans SC"/>
              </a:rPr>
              <a:t>次要用户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889503"/>
            <a:ext cx="1938528" cy="886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65736D"/>
                </a:solidFill>
                <a:latin typeface="Noto Sans SC"/>
              </a:rPr>
              <a:t>保持普通朋友边界；不会继承主要用户称呼，也不会读取主要用户专属隐私。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24528"/>
            <a:ext cx="5193792" cy="1170432"/>
          </a:xfrm>
          <a:prstGeom prst="roundRect">
            <a:avLst>
              <a:gd name="adj" fmla="val 8000"/>
            </a:avLst>
          </a:prstGeom>
          <a:solidFill>
            <a:srgbClr val="F7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6227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96E5A"/>
                </a:solidFill>
                <a:latin typeface="Noto Sans SC"/>
              </a:rPr>
              <a:t>身份判断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4526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0">
                <a:solidFill>
                  <a:srgbClr val="65736D"/>
                </a:solidFill>
                <a:latin typeface="Noto Sans SC"/>
              </a:rPr>
              <a:t>稳定平台 ID 优先；昵称、群名片、别名和自称只作辅助。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664208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520"/>
                </a:solidFill>
                <a:latin typeface="Noto Sans SC"/>
              </a:rPr>
              <a:t>群聊四层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084831"/>
            <a:ext cx="498348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0528" y="2194560"/>
            <a:ext cx="438912" cy="438912"/>
          </a:xfrm>
          <a:prstGeom prst="ellipse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203703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Noto Sans SC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19456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72520"/>
                </a:solidFill>
                <a:latin typeface="Noto Sans SC"/>
              </a:rPr>
              <a:t>观察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203703"/>
            <a:ext cx="2697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5736D"/>
                </a:solidFill>
                <a:latin typeface="Noto Sans SC"/>
              </a:rPr>
              <a:t>允许群内的文本与多媒体占位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19088" y="2980944"/>
            <a:ext cx="4764024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20256" y="3090672"/>
            <a:ext cx="438912" cy="438912"/>
          </a:xfrm>
          <a:prstGeom prst="ellipse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0256" y="309981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Noto Sans SC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0906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72520"/>
                </a:solidFill>
                <a:latin typeface="Noto Sans SC"/>
              </a:rPr>
              <a:t>理解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3099815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5736D"/>
                </a:solidFill>
                <a:latin typeface="Noto Sans SC"/>
              </a:rPr>
              <a:t>气氛、群友、黑话、话题与关系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28816" y="3877056"/>
            <a:ext cx="4544568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29984" y="3986784"/>
            <a:ext cx="438912" cy="438912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4" y="3995928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Noto Sans SC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398678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72520"/>
                </a:solidFill>
                <a:latin typeface="Noto Sans SC"/>
              </a:rPr>
              <a:t>唤醒 / 续接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995928"/>
            <a:ext cx="23682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5736D"/>
                </a:solidFill>
                <a:latin typeface="Noto Sans SC"/>
              </a:rPr>
              <a:t>识别是否在对 Bot 说话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38544" y="4773168"/>
            <a:ext cx="4325112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39712" y="4882896"/>
            <a:ext cx="438912" cy="438912"/>
          </a:xfrm>
          <a:prstGeom prst="ellipse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2" y="4892040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Noto Sans SC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43216" y="488289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172520"/>
                </a:solidFill>
                <a:latin typeface="Noto Sans SC"/>
              </a:rPr>
              <a:t>主动插话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4" y="4892040"/>
            <a:ext cx="2203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5736D"/>
                </a:solidFill>
                <a:latin typeface="Noto Sans SC"/>
              </a:rPr>
              <a:t>按场景、概率、冷却与关系选择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520"/>
                </a:solidFill>
                <a:latin typeface="Noto Sans SC"/>
              </a:rPr>
              <a:t>她会看、会说、会创作，也会记事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5736D"/>
                </a:solidFill>
                <a:latin typeface="Noto Sans SC"/>
              </a:rPr>
              <a:t>多模态和内容能力服务于同一段长期体验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56231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1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146304" cy="1664208"/>
          </a:xfrm>
          <a:prstGeom prst="rect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7" y="2075688"/>
            <a:ext cx="566928" cy="566928"/>
          </a:xfrm>
          <a:prstGeom prst="ellipse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7" y="2084831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VIS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057400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2520"/>
                </a:solidFill>
                <a:latin typeface="Noto Sans SC"/>
              </a:rPr>
              <a:t>图片理解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9072" y="2560320"/>
            <a:ext cx="20848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5736D"/>
                </a:solidFill>
                <a:latin typeface="Noto Sans SC"/>
              </a:rPr>
              <a:t>私聊、引用图、GIF、转发图
记录画面与图片归属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3" y="1856231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1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59" y="1783080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1783080"/>
            <a:ext cx="146304" cy="1664208"/>
          </a:xfrm>
          <a:prstGeom prst="rect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0599" y="2075688"/>
            <a:ext cx="566928" cy="566928"/>
          </a:xfrm>
          <a:prstGeom prst="ellipse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599" y="2084831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IMG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1264" y="2057400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2520"/>
                </a:solidFill>
                <a:latin typeface="Noto Sans SC"/>
              </a:rPr>
              <a:t>参考图生图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41264" y="2560320"/>
            <a:ext cx="20848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5736D"/>
                </a:solidFill>
                <a:latin typeface="Noto Sans SC"/>
              </a:rPr>
              <a:t>自拍、穿搭、改图、封面
当前请求优先于旧穿搭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57616" y="1856231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1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2752" y="1783080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02752" y="1783080"/>
            <a:ext cx="146304" cy="1664208"/>
          </a:xfrm>
          <a:prstGeom prst="rect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22792" y="2075688"/>
            <a:ext cx="566928" cy="566928"/>
          </a:xfrm>
          <a:prstGeom prst="ellipse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2084831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TTS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2057400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2520"/>
                </a:solidFill>
                <a:latin typeface="Noto Sans SC"/>
              </a:rPr>
              <a:t>语音编排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2560320"/>
            <a:ext cx="20848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5736D"/>
                </a:solidFill>
                <a:latin typeface="Noto Sans SC"/>
              </a:rPr>
              <a:t>语音替代或同时发文字
外语原文或中文释义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886200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1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8368" y="3813048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3813048"/>
            <a:ext cx="146304" cy="1664208"/>
          </a:xfrm>
          <a:prstGeom prst="rect">
            <a:avLst/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8407" y="4105656"/>
            <a:ext cx="566928" cy="566928"/>
          </a:xfrm>
          <a:prstGeom prst="ellipse">
            <a:avLst/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7" y="4114800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LIB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19072" y="4087368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2520"/>
                </a:solidFill>
                <a:latin typeface="Noto Sans SC"/>
              </a:rPr>
              <a:t>书柜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19072" y="4590288"/>
            <a:ext cx="20848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5736D"/>
                </a:solidFill>
                <a:latin typeface="Noto Sans SC"/>
              </a:rPr>
              <a:t>作品、日记、私密阅读
封面、批注与阅读状态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5423" y="3886200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1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80559" y="3813048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0559" y="3813048"/>
            <a:ext cx="146304" cy="1664208"/>
          </a:xfrm>
          <a:prstGeom prst="rect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00599" y="4105656"/>
            <a:ext cx="566928" cy="566928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599" y="4114800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MEM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41264" y="4087368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2520"/>
                </a:solidFill>
                <a:latin typeface="Noto Sans SC"/>
              </a:rPr>
              <a:t>备忘便签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1264" y="4590288"/>
            <a:ext cx="20848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5736D"/>
                </a:solidFill>
                <a:latin typeface="Noto Sans SC"/>
              </a:rPr>
              <a:t>完成、置顶、到期提醒
支持重复周期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57616" y="3886200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1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02752" y="3813048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02752" y="3813048"/>
            <a:ext cx="146304" cy="1664208"/>
          </a:xfrm>
          <a:prstGeom prst="rect">
            <a:avLst/>
          </a:prstGeom>
          <a:solidFill>
            <a:srgbClr val="2F5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22792" y="4105656"/>
            <a:ext cx="566928" cy="566928"/>
          </a:xfrm>
          <a:prstGeom prst="ellipse">
            <a:avLst/>
          </a:prstGeom>
          <a:solidFill>
            <a:srgbClr val="2F5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22792" y="4114800"/>
            <a:ext cx="56692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CRT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63456" y="4087368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72520"/>
                </a:solidFill>
                <a:latin typeface="Noto Sans SC"/>
              </a:rPr>
              <a:t>梦境与创作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63456" y="4590288"/>
            <a:ext cx="2084831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5736D"/>
                </a:solidFill>
                <a:latin typeface="Noto Sans SC"/>
              </a:rPr>
              <a:t>参考当天状态与经历
维护大纲、角色和审校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04288" y="5925312"/>
            <a:ext cx="7589520" cy="365760"/>
          </a:xfrm>
          <a:prstGeom prst="roundRect">
            <a:avLst>
              <a:gd name="adj" fmla="val 8000"/>
            </a:avLst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04288" y="5961888"/>
            <a:ext cx="7589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70" b="1">
                <a:solidFill>
                  <a:srgbClr val="2F5A49"/>
                </a:solidFill>
                <a:latin typeface="Noto Sans SC"/>
              </a:rPr>
              <a:t>高成本与强侵入能力默认可选，缺失时局部降级，不阻塞普通聊天。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5A746"/>
                </a:solidFill>
                <a:latin typeface="Noto Sans SC"/>
              </a:rPr>
              <a:t>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</a:rPr>
              <a:t>14 个页面，把复杂能力变得可观察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B9A5"/>
                </a:solidFill>
                <a:latin typeface="Noto Sans SC"/>
              </a:rPr>
              <a:t>不是只给开关：状态、来源、拦截、成本和故障都能追踪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D5A746"/>
                </a:solidFill>
                <a:latin typeface="Noto Sans SC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27080" cy="4553712"/>
          </a:xfrm>
          <a:prstGeom prst="roundRect">
            <a:avLst>
              <a:gd name="adj" fmla="val 8000"/>
            </a:avLst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27080" cy="438912"/>
          </a:xfrm>
          <a:prstGeom prst="rect">
            <a:avLst/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746504"/>
            <a:ext cx="109728" cy="109728"/>
          </a:xfrm>
          <a:prstGeom prst="ellipse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746504"/>
            <a:ext cx="109728" cy="109728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746504"/>
            <a:ext cx="109728" cy="109728"/>
          </a:xfrm>
          <a:prstGeom prst="ellipse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70078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E5EEE8"/>
                </a:solidFill>
                <a:latin typeface="Noto Sans SC"/>
              </a:rPr>
              <a:t>陪伴面板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39112"/>
            <a:ext cx="1883664" cy="4114800"/>
          </a:xfrm>
          <a:prstGeom prst="rect">
            <a:avLst/>
          </a:prstGeom>
          <a:solidFill>
            <a:srgbClr val="E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2249424"/>
            <a:ext cx="1481328" cy="246888"/>
          </a:xfrm>
          <a:prstGeom prst="roundRect">
            <a:avLst>
              <a:gd name="adj" fmla="val 8000"/>
            </a:avLst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2677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1">
                <a:solidFill>
                  <a:srgbClr val="FFFFFF"/>
                </a:solidFill>
                <a:latin typeface="Noto Sans SC"/>
              </a:rPr>
              <a:t>总览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55117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私聊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83464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群聊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11810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4015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观察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368503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主动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96849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书柜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25196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535424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排障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818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配置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1023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538581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实验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6352" y="2258568"/>
            <a:ext cx="713232" cy="310896"/>
          </a:xfrm>
          <a:prstGeom prst="roundRect">
            <a:avLst>
              <a:gd name="adj" fmla="val 8000"/>
            </a:avLst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16352" y="2263140"/>
            <a:ext cx="71323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Noto Sans SC"/>
              </a:rPr>
              <a:t>TODAY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2651760"/>
            <a:ext cx="3474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520"/>
                </a:solidFill>
                <a:latin typeface="Noto Sans SC"/>
              </a:rPr>
              <a:t>今天过得怎么样？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099816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36D"/>
                </a:solidFill>
                <a:latin typeface="Noto Sans SC"/>
              </a:rPr>
              <a:t>精力平稳 · 情绪温柔 · 当前正在整理一天的见闻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16352" y="3611880"/>
            <a:ext cx="175564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80944" y="37764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36D"/>
                </a:solidFill>
                <a:latin typeface="Noto Sans SC"/>
              </a:rPr>
              <a:t>当前活动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0944" y="408736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4E8067"/>
                </a:solidFill>
                <a:latin typeface="Noto Sans SC"/>
              </a:rPr>
              <a:t>写完一段日记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09744" y="3611880"/>
            <a:ext cx="175564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74336" y="37764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36D"/>
                </a:solidFill>
                <a:latin typeface="Noto Sans SC"/>
              </a:rPr>
              <a:t>主动候选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74336" y="408736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C96E5A"/>
                </a:solidFill>
                <a:latin typeface="Noto Sans SC"/>
              </a:rPr>
              <a:t>3 条等待时机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03136" y="3611880"/>
            <a:ext cx="1755648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67728" y="377647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5736D"/>
                </a:solidFill>
                <a:latin typeface="Noto Sans SC"/>
              </a:rPr>
              <a:t>Token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4087368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557F9C"/>
                </a:solidFill>
                <a:latin typeface="Noto Sans SC"/>
              </a:rPr>
              <a:t>今日 42.8k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34272" y="2267712"/>
            <a:ext cx="2212848" cy="2276856"/>
          </a:xfrm>
          <a:prstGeom prst="roundRect">
            <a:avLst>
              <a:gd name="adj" fmla="val 8000"/>
            </a:avLst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016" y="254203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F5A49"/>
                </a:solidFill>
                <a:latin typeface="Noto Sans SC"/>
              </a:rPr>
              <a:t>运行状态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2016" y="299923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5736D"/>
                </a:solidFill>
                <a:latin typeface="Noto Sans SC"/>
              </a:rPr>
              <a:t>主动调度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8128" y="2999232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>
                <a:solidFill>
                  <a:srgbClr val="2F5A49"/>
                </a:solidFill>
                <a:latin typeface="Noto Sans SC"/>
              </a:rPr>
              <a:t>正常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72016" y="3355848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5736D"/>
                </a:solidFill>
                <a:latin typeface="Noto Sans SC"/>
              </a:rPr>
              <a:t>群聊观察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68128" y="3355848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>
                <a:solidFill>
                  <a:srgbClr val="2F5A49"/>
                </a:solidFill>
                <a:latin typeface="Noto Sans SC"/>
              </a:rPr>
              <a:t>4 个群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72016" y="3712463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5736D"/>
                </a:solidFill>
                <a:latin typeface="Noto Sans SC"/>
              </a:rPr>
              <a:t>视觉缓存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8128" y="3712463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>
                <a:solidFill>
                  <a:srgbClr val="2F5A49"/>
                </a:solidFill>
                <a:latin typeface="Noto Sans SC"/>
              </a:rPr>
              <a:t>命中 78%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2016" y="4069079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5736D"/>
                </a:solidFill>
                <a:latin typeface="Noto Sans SC"/>
              </a:rPr>
              <a:t>配置保存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68128" y="4069079"/>
            <a:ext cx="7863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1">
                <a:solidFill>
                  <a:srgbClr val="2F5A49"/>
                </a:solidFill>
                <a:latin typeface="Noto Sans SC"/>
              </a:rPr>
              <a:t>已同步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16352" y="492861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72520"/>
                </a:solidFill>
                <a:latin typeface="Noto Sans SC"/>
              </a:rPr>
              <a:t>今日日程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852928" y="5513832"/>
            <a:ext cx="8065008" cy="0"/>
          </a:xfrm>
          <a:prstGeom prst="line">
            <a:avLst/>
          </a:prstGeom>
          <a:ln w="2540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2926080" y="5358384"/>
            <a:ext cx="310896" cy="310896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61488" y="5696712"/>
            <a:ext cx="6583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70" b="0">
                <a:solidFill>
                  <a:srgbClr val="65736D"/>
                </a:solidFill>
                <a:latin typeface="Noto Sans SC"/>
              </a:rPr>
              <a:t>08:00</a:t>
            </a:r>
          </a:p>
        </p:txBody>
      </p:sp>
      <p:sp>
        <p:nvSpPr>
          <p:cNvPr id="53" name="Oval 52"/>
          <p:cNvSpPr/>
          <p:nvPr/>
        </p:nvSpPr>
        <p:spPr>
          <a:xfrm>
            <a:off x="5349240" y="5358384"/>
            <a:ext cx="310896" cy="310896"/>
          </a:xfrm>
          <a:prstGeom prst="ellipse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84648" y="5696712"/>
            <a:ext cx="6583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70" b="0">
                <a:solidFill>
                  <a:srgbClr val="65736D"/>
                </a:solidFill>
                <a:latin typeface="Noto Sans SC"/>
              </a:rPr>
              <a:t>12:30</a:t>
            </a:r>
          </a:p>
        </p:txBody>
      </p:sp>
      <p:sp>
        <p:nvSpPr>
          <p:cNvPr id="55" name="Oval 54"/>
          <p:cNvSpPr/>
          <p:nvPr/>
        </p:nvSpPr>
        <p:spPr>
          <a:xfrm>
            <a:off x="7772400" y="5358384"/>
            <a:ext cx="310896" cy="310896"/>
          </a:xfrm>
          <a:prstGeom prst="ellipse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07808" y="5696712"/>
            <a:ext cx="6583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70" b="0">
                <a:solidFill>
                  <a:srgbClr val="65736D"/>
                </a:solidFill>
                <a:latin typeface="Noto Sans SC"/>
              </a:rPr>
              <a:t>18:40</a:t>
            </a:r>
          </a:p>
        </p:txBody>
      </p:sp>
      <p:sp>
        <p:nvSpPr>
          <p:cNvPr id="57" name="Oval 56"/>
          <p:cNvSpPr/>
          <p:nvPr/>
        </p:nvSpPr>
        <p:spPr>
          <a:xfrm>
            <a:off x="10195559" y="5358384"/>
            <a:ext cx="310896" cy="310896"/>
          </a:xfrm>
          <a:prstGeom prst="ellipse">
            <a:avLst/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30967" y="5696712"/>
            <a:ext cx="6583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70" b="0">
                <a:solidFill>
                  <a:srgbClr val="65736D"/>
                </a:solidFill>
                <a:latin typeface="Noto Sans SC"/>
              </a:rPr>
              <a:t>23:20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4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9CB9A5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9CB9A5"/>
                </a:solidFill>
                <a:latin typeface="Noto Sans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MODELS &amp;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520"/>
                </a:solidFill>
                <a:latin typeface="Noto Sans SC"/>
              </a:rPr>
              <a:t>模型分流、峰时替换与 Token 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5736D"/>
                </a:solidFill>
                <a:latin typeface="Noto Sans SC"/>
              </a:rPr>
              <a:t>先快速配置，再按任务精确路由；高成本后台任务可以主动降载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642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520"/>
                </a:solidFill>
                <a:latin typeface="Noto Sans SC"/>
              </a:rPr>
              <a:t>快速配置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385876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221992"/>
            <a:ext cx="749808" cy="310896"/>
          </a:xfrm>
          <a:prstGeom prst="roundRect">
            <a:avLst>
              <a:gd name="adj" fmla="val 8000"/>
            </a:avLst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26564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Noto Sans SC"/>
              </a:rPr>
              <a:t>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2224" y="2176272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172520"/>
                </a:solidFill>
                <a:latin typeface="Noto Sans SC"/>
              </a:rPr>
              <a:t>快速模型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185416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30" b="0">
                <a:solidFill>
                  <a:srgbClr val="65736D"/>
                </a:solidFill>
                <a:latin typeface="Noto Sans SC"/>
              </a:rPr>
              <a:t>轻量判断 / TTS / 复核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98648"/>
            <a:ext cx="385876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" y="3063240"/>
            <a:ext cx="749808" cy="310896"/>
          </a:xfrm>
          <a:prstGeom prst="roundRect">
            <a:avLst>
              <a:gd name="adj" fmla="val 8000"/>
            </a:avLst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067812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Noto Sans SC"/>
              </a:rPr>
              <a:t>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4" y="3017520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172520"/>
                </a:solidFill>
                <a:latin typeface="Noto Sans SC"/>
              </a:rPr>
              <a:t>复杂模型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02666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30" b="0">
                <a:solidFill>
                  <a:srgbClr val="65736D"/>
                </a:solidFill>
                <a:latin typeface="Noto Sans SC"/>
              </a:rPr>
              <a:t>日程 / 关系 / 记忆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39896"/>
            <a:ext cx="385876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3904487"/>
            <a:ext cx="749808" cy="310896"/>
          </a:xfrm>
          <a:prstGeom prst="roundRect">
            <a:avLst>
              <a:gd name="adj" fmla="val 8000"/>
            </a:avLst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909059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Noto Sans SC"/>
              </a:rPr>
              <a:t>CREATE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2224" y="3858768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172520"/>
                </a:solidFill>
                <a:latin typeface="Noto Sans SC"/>
              </a:rPr>
              <a:t>创作模型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2928" y="3867911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30" b="0">
                <a:solidFill>
                  <a:srgbClr val="65736D"/>
                </a:solidFill>
                <a:latin typeface="Noto Sans SC"/>
              </a:rPr>
              <a:t>梦境 / 日记 / 正文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581144"/>
            <a:ext cx="385876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9536" y="4745736"/>
            <a:ext cx="749808" cy="310896"/>
          </a:xfrm>
          <a:prstGeom prst="roundRect">
            <a:avLst>
              <a:gd name="adj" fmla="val 8000"/>
            </a:avLst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750307"/>
            <a:ext cx="749808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Noto Sans SC"/>
              </a:rPr>
              <a:t>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4" y="4700016"/>
            <a:ext cx="1115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172520"/>
                </a:solidFill>
                <a:latin typeface="Noto Sans SC"/>
              </a:rPr>
              <a:t>视觉模型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2928" y="4709159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30" b="0">
                <a:solidFill>
                  <a:srgbClr val="65736D"/>
                </a:solidFill>
                <a:latin typeface="Noto Sans SC"/>
              </a:rPr>
              <a:t>图片 / 转发 / 私密阅读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16642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520"/>
                </a:solidFill>
                <a:latin typeface="Noto Sans SC"/>
              </a:rPr>
              <a:t>运行时路由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2057400"/>
            <a:ext cx="2889504" cy="2057400"/>
          </a:xfrm>
          <a:prstGeom prst="roundRect">
            <a:avLst>
              <a:gd name="adj" fmla="val 8000"/>
            </a:avLst>
          </a:prstGeom>
          <a:solidFill>
            <a:srgbClr val="E5E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48656" y="2359151"/>
            <a:ext cx="219456" cy="219456"/>
          </a:xfrm>
          <a:prstGeom prst="ellipse">
            <a:avLst/>
          </a:prstGeom>
          <a:solidFill>
            <a:srgbClr val="172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2331720"/>
            <a:ext cx="1664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72520"/>
                </a:solidFill>
                <a:latin typeface="Noto Sans SC"/>
              </a:rPr>
              <a:t>任务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58384" y="2578608"/>
            <a:ext cx="0" cy="146304"/>
          </a:xfrm>
          <a:prstGeom prst="line">
            <a:avLst/>
          </a:prstGeom>
          <a:ln w="1524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248656" y="2752344"/>
            <a:ext cx="219456" cy="219456"/>
          </a:xfrm>
          <a:prstGeom prst="ellipse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3560" y="2724912"/>
            <a:ext cx="1664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172520"/>
                </a:solidFill>
                <a:latin typeface="Noto Sans SC"/>
              </a:rPr>
              <a:t>单项模型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58384" y="2971800"/>
            <a:ext cx="0" cy="146304"/>
          </a:xfrm>
          <a:prstGeom prst="line">
            <a:avLst/>
          </a:prstGeom>
          <a:ln w="1524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248656" y="3145535"/>
            <a:ext cx="219456" cy="219456"/>
          </a:xfrm>
          <a:prstGeom prst="ellipse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3560" y="3118103"/>
            <a:ext cx="1664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172520"/>
                </a:solidFill>
                <a:latin typeface="Noto Sans SC"/>
              </a:rPr>
              <a:t>基础模型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58384" y="3364991"/>
            <a:ext cx="0" cy="146305"/>
          </a:xfrm>
          <a:prstGeom prst="line">
            <a:avLst/>
          </a:prstGeom>
          <a:ln w="1524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248656" y="3538727"/>
            <a:ext cx="219456" cy="219456"/>
          </a:xfrm>
          <a:prstGeom prst="ellipse">
            <a:avLst/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60" y="3511296"/>
            <a:ext cx="16642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72520"/>
                </a:solidFill>
                <a:latin typeface="Noto Sans SC"/>
              </a:rPr>
              <a:t>AstrBot 默认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4343400"/>
            <a:ext cx="2889504" cy="1152144"/>
          </a:xfrm>
          <a:prstGeom prst="roundRect">
            <a:avLst>
              <a:gd name="adj" fmla="val 8000"/>
            </a:avLst>
          </a:prstGeom>
          <a:solidFill>
            <a:srgbClr val="F6EC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9512" y="4590288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>
                <a:solidFill>
                  <a:srgbClr val="172520"/>
                </a:solidFill>
                <a:latin typeface="Noto Sans SC"/>
              </a:rPr>
              <a:t>DeepSeek 峰时替换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39512" y="4919472"/>
            <a:ext cx="237744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65736D"/>
                </a:solidFill>
                <a:latin typeface="Noto Sans SC"/>
              </a:rPr>
              <a:t>只改运行时选模
不改原 Provider 配置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16642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72520"/>
                </a:solidFill>
                <a:latin typeface="Noto Sans SC"/>
              </a:rPr>
              <a:t>成本与保护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1488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520"/>
                </a:solidFill>
                <a:latin typeface="Noto Sans SC"/>
              </a:rPr>
              <a:t>软限额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214884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0">
                <a:solidFill>
                  <a:srgbClr val="65736D"/>
                </a:solidFill>
                <a:latin typeface="Noto Sans SC"/>
              </a:rPr>
              <a:t>暂缓低优先级后台任务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2532888"/>
            <a:ext cx="2880360" cy="146304"/>
          </a:xfrm>
          <a:prstGeom prst="roundRect">
            <a:avLst>
              <a:gd name="adj" fmla="val 8000"/>
            </a:avLst>
          </a:prstGeom>
          <a:solidFill>
            <a:srgbClr val="D8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21040" y="2532888"/>
            <a:ext cx="1929841" cy="146304"/>
          </a:xfrm>
          <a:prstGeom prst="roundRect">
            <a:avLst>
              <a:gd name="adj" fmla="val 8000"/>
            </a:avLst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2004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520"/>
                </a:solidFill>
                <a:latin typeface="Noto Sans SC"/>
              </a:rPr>
              <a:t>硬限额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20040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0">
                <a:solidFill>
                  <a:srgbClr val="65736D"/>
                </a:solidFill>
                <a:latin typeface="Noto Sans SC"/>
              </a:rPr>
              <a:t>停止新增插件内部 LLM 任务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21040" y="3584448"/>
            <a:ext cx="2880360" cy="146304"/>
          </a:xfrm>
          <a:prstGeom prst="roundRect">
            <a:avLst>
              <a:gd name="adj" fmla="val 8000"/>
            </a:avLst>
          </a:prstGeom>
          <a:solidFill>
            <a:srgbClr val="D8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321040" y="3584448"/>
            <a:ext cx="2534716" cy="146304"/>
          </a:xfrm>
          <a:prstGeom prst="roundRect">
            <a:avLst>
              <a:gd name="adj" fmla="val 8000"/>
            </a:avLst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40" y="4251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520"/>
                </a:solidFill>
                <a:latin typeface="Noto Sans SC"/>
              </a:rPr>
              <a:t>缓存命中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25196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0">
                <a:solidFill>
                  <a:srgbClr val="65736D"/>
                </a:solidFill>
                <a:latin typeface="Noto Sans SC"/>
              </a:rPr>
              <a:t>减少重复图片与上下文调用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4636008"/>
            <a:ext cx="2880360" cy="146304"/>
          </a:xfrm>
          <a:prstGeom prst="roundRect">
            <a:avLst>
              <a:gd name="adj" fmla="val 8000"/>
            </a:avLst>
          </a:prstGeom>
          <a:solidFill>
            <a:srgbClr val="D8E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321040" y="4636008"/>
            <a:ext cx="2189073" cy="146304"/>
          </a:xfrm>
          <a:prstGeom prst="roundRect">
            <a:avLst>
              <a:gd name="adj" fmla="val 8000"/>
            </a:avLst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321040" y="5376672"/>
            <a:ext cx="2880360" cy="502920"/>
          </a:xfrm>
          <a:prstGeom prst="roundRect">
            <a:avLst>
              <a:gd name="adj" fmla="val 8000"/>
            </a:avLst>
          </a:prstGeom>
          <a:solidFill>
            <a:srgbClr val="E3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8200" y="5486400"/>
            <a:ext cx="2606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557F9C"/>
                </a:solidFill>
                <a:latin typeface="Noto Sans SC"/>
              </a:rPr>
              <a:t>Token 页按任务、Provider 与外部插件拆分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D5A746"/>
                </a:solidFill>
                <a:latin typeface="Noto Sans SC"/>
              </a:rPr>
              <a:t>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Noto Sans SC"/>
              </a:rPr>
              <a:t>本体独立运行，联动按需增加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CB9A5"/>
                </a:solidFill>
                <a:latin typeface="Noto Sans SC"/>
              </a:rPr>
              <a:t>没有安装、没有启用或平台不支持时，只跳过相关能力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D5A746"/>
                </a:solidFill>
                <a:latin typeface="Noto Sans SC"/>
              </a:rPr>
              <a:t>11</a:t>
            </a:r>
          </a:p>
        </p:txBody>
      </p:sp>
      <p:pic>
        <p:nvPicPr>
          <p:cNvPr id="6" name="Picture 5" descr="logo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2395728"/>
            <a:ext cx="2084831" cy="20848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10328" y="4572000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 SC"/>
              </a:rPr>
              <a:t>持续陪伴中枢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2743200" cy="1024128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828800"/>
            <a:ext cx="118872" cy="1024128"/>
          </a:xfrm>
          <a:prstGeom prst="rect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011680"/>
            <a:ext cx="2148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Noto Sans SC"/>
              </a:rPr>
              <a:t>我会牢牢记住你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323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9CB9A5"/>
                </a:solidFill>
                <a:latin typeface="Noto Sans SC"/>
              </a:rPr>
              <a:t>长期记忆 / 历史导入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340864"/>
            <a:ext cx="2450592" cy="1060704"/>
          </a:xfrm>
          <a:prstGeom prst="line">
            <a:avLst/>
          </a:prstGeom>
          <a:ln w="17780">
            <a:solidFill>
              <a:srgbClr val="4E8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4242816"/>
            <a:ext cx="2743200" cy="1024128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42816"/>
            <a:ext cx="118872" cy="1024128"/>
          </a:xfrm>
          <a:prstGeom prst="rect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425696"/>
            <a:ext cx="2148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Noto Sans SC"/>
              </a:rPr>
              <a:t>我会一直看着你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84632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9CB9A5"/>
                </a:solidFill>
                <a:latin typeface="Noto Sans SC"/>
              </a:rPr>
              <a:t>识屏 / 天气 / 昨日观察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657600" y="3401568"/>
            <a:ext cx="2450592" cy="1353311"/>
          </a:xfrm>
          <a:prstGeom prst="line">
            <a:avLst/>
          </a:prstGeom>
          <a:ln w="17780">
            <a:solidFill>
              <a:srgbClr val="557F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49640" y="1828800"/>
            <a:ext cx="2743200" cy="1024128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49640" y="1828800"/>
            <a:ext cx="118872" cy="1024128"/>
          </a:xfrm>
          <a:prstGeom prst="rect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011680"/>
            <a:ext cx="2148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Noto Sans SC"/>
              </a:rPr>
              <a:t>我会和你在一起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32304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9CB9A5"/>
                </a:solidFill>
                <a:latin typeface="Noto Sans SC"/>
              </a:rPr>
              <a:t>通话 / 共同观影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108192" y="2340864"/>
            <a:ext cx="2441448" cy="1060704"/>
          </a:xfrm>
          <a:prstGeom prst="line">
            <a:avLst/>
          </a:prstGeom>
          <a:ln w="17780">
            <a:solidFill>
              <a:srgbClr val="C9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49640" y="4242816"/>
            <a:ext cx="2743200" cy="1024128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9640" y="4242816"/>
            <a:ext cx="118872" cy="1024128"/>
          </a:xfrm>
          <a:prstGeom prst="rect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4425696"/>
            <a:ext cx="21488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Noto Sans SC"/>
              </a:rPr>
              <a:t>我会直播圈米养你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84632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0">
                <a:solidFill>
                  <a:srgbClr val="9CB9A5"/>
                </a:solidFill>
                <a:latin typeface="Noto Sans SC"/>
              </a:rPr>
              <a:t>直播共处 / 字幕协同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6108192" y="3401568"/>
            <a:ext cx="2441448" cy="1353311"/>
          </a:xfrm>
          <a:prstGeom prst="line">
            <a:avLst/>
          </a:prstGeom>
          <a:ln w="17780">
            <a:solidFill>
              <a:srgbClr val="D5A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5696712"/>
            <a:ext cx="10378440" cy="411480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576072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E5EEE8"/>
                </a:solidFill>
                <a:latin typeface="Noto Sans SC"/>
              </a:rPr>
              <a:t>第三方桥接：Proactive Chat · Bilibili AI Bot · PokePro · LivingMemory · JM-Cosmos · Smart ImageChat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2944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9CB9A5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9CB9A5"/>
                </a:solidFill>
                <a:latin typeface="Noto Sans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GET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520"/>
                </a:solidFill>
                <a:latin typeface="Noto Sans SC"/>
              </a:rPr>
              <a:t>10 分钟完成第一次配置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5736D"/>
                </a:solidFill>
                <a:latin typeface="Noto Sans SC"/>
              </a:rPr>
              <a:t>先跑通文字、状态、日程和关系，再逐项增加图片、语音与外部能力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31546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9264" y="2148839"/>
            <a:ext cx="530352" cy="530352"/>
          </a:xfrm>
          <a:prstGeom prst="ellipse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57983"/>
            <a:ext cx="530352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2093976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520"/>
                </a:solidFill>
                <a:latin typeface="Noto Sans SC"/>
              </a:rPr>
              <a:t>确认加载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2542032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5736D"/>
                </a:solidFill>
                <a:latin typeface="Noto Sans SC"/>
              </a:rPr>
              <a:t>总览无明显错误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874519"/>
            <a:ext cx="31546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2148839"/>
            <a:ext cx="530352" cy="530352"/>
          </a:xfrm>
          <a:prstGeom prst="ellipse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157983"/>
            <a:ext cx="530352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2093976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520"/>
                </a:solidFill>
                <a:latin typeface="Noto Sans SC"/>
              </a:rPr>
              <a:t>确认人格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542032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5736D"/>
                </a:solidFill>
                <a:latin typeface="Noto Sans SC"/>
              </a:rPr>
              <a:t>只补角色与世界资料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874519"/>
            <a:ext cx="31546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19871" y="2148839"/>
            <a:ext cx="530352" cy="530352"/>
          </a:xfrm>
          <a:prstGeom prst="ellipse">
            <a:avLst/>
          </a:prstGeom>
          <a:solidFill>
            <a:srgbClr val="765B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1" y="2157983"/>
            <a:ext cx="530352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093976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520"/>
                </a:solidFill>
                <a:latin typeface="Noto Sans SC"/>
              </a:rPr>
              <a:t>配置模型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542032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5736D"/>
                </a:solidFill>
                <a:latin typeface="Noto Sans SC"/>
              </a:rPr>
              <a:t>快速 / 复杂 / 创作 / 视觉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059936"/>
            <a:ext cx="31546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19871" y="4334256"/>
            <a:ext cx="530352" cy="530352"/>
          </a:xfrm>
          <a:prstGeom prst="ellipse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4343400"/>
            <a:ext cx="530352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S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4279392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520"/>
                </a:solidFill>
                <a:latin typeface="Noto Sans SC"/>
              </a:rPr>
              <a:t>基础设置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4727448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5736D"/>
                </a:solidFill>
                <a:latin typeface="Noto Sans SC"/>
              </a:rPr>
              <a:t>Bot 名称 / 时区 / 免打扰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8536" y="4059936"/>
            <a:ext cx="31546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4568" y="4334256"/>
            <a:ext cx="530352" cy="530352"/>
          </a:xfrm>
          <a:prstGeom prst="ellipse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44568" y="4343400"/>
            <a:ext cx="530352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SC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8656" y="4279392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520"/>
                </a:solidFill>
                <a:latin typeface="Noto Sans SC"/>
              </a:rPr>
              <a:t>主要用户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6" y="4727448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5736D"/>
                </a:solidFill>
                <a:latin typeface="Noto Sans SC"/>
              </a:rPr>
              <a:t>填写真实平台用户 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4059936"/>
            <a:ext cx="3154680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9264" y="4334256"/>
            <a:ext cx="530352" cy="530352"/>
          </a:xfrm>
          <a:prstGeom prst="ellipse">
            <a:avLst/>
          </a:prstGeom>
          <a:solidFill>
            <a:srgbClr val="2F5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4343400"/>
            <a:ext cx="530352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 SC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73352" y="4279392"/>
            <a:ext cx="1874519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72520"/>
                </a:solidFill>
                <a:latin typeface="Noto Sans SC"/>
              </a:rPr>
              <a:t>发送状态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3352" y="4727448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5736D"/>
                </a:solidFill>
                <a:latin typeface="Noto Sans SC"/>
              </a:rPr>
              <a:t>检查日程、关系与主动候选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67912" y="2523744"/>
            <a:ext cx="356616" cy="0"/>
          </a:xfrm>
          <a:prstGeom prst="line">
            <a:avLst/>
          </a:prstGeom>
          <a:ln w="25400">
            <a:solidFill>
              <a:srgbClr val="4E8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43216" y="2523744"/>
            <a:ext cx="356615" cy="0"/>
          </a:xfrm>
          <a:prstGeom prst="line">
            <a:avLst/>
          </a:prstGeom>
          <a:ln w="25400">
            <a:solidFill>
              <a:srgbClr val="4E8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445752" y="3200400"/>
            <a:ext cx="0" cy="786384"/>
          </a:xfrm>
          <a:prstGeom prst="line">
            <a:avLst/>
          </a:prstGeom>
          <a:ln w="25400">
            <a:solidFill>
              <a:srgbClr val="4E8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7443216" y="4709160"/>
            <a:ext cx="356615" cy="0"/>
          </a:xfrm>
          <a:prstGeom prst="line">
            <a:avLst/>
          </a:prstGeom>
          <a:ln w="25400">
            <a:solidFill>
              <a:srgbClr val="4E8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867912" y="4709160"/>
            <a:ext cx="356616" cy="0"/>
          </a:xfrm>
          <a:prstGeom prst="line">
            <a:avLst/>
          </a:prstGeom>
          <a:ln w="25400">
            <a:solidFill>
              <a:srgbClr val="4E8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246120" y="5806440"/>
            <a:ext cx="5705856" cy="402336"/>
          </a:xfrm>
          <a:prstGeom prst="roundRect">
            <a:avLst>
              <a:gd name="adj" fmla="val 8000"/>
            </a:avLst>
          </a:prstGeom>
          <a:solidFill>
            <a:srgbClr val="F7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46120" y="5852160"/>
            <a:ext cx="57058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C96E5A"/>
                </a:solidFill>
                <a:latin typeface="Noto Sans SC"/>
              </a:rPr>
              <a:t>OneBot 通常填 QQ 号；QQ 官方机器人填写 openid，不能混用。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72520"/>
                </a:solidFill>
                <a:latin typeface="Noto Sans SC"/>
              </a:rPr>
              <a:t>能力越多，不代表应该全部开启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5736D"/>
                </a:solidFill>
                <a:latin typeface="Noto Sans SC"/>
              </a:rPr>
              <a:t>把成本、隐私和平台差异放在体验设计里，而不是事后补救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11480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4E8067"/>
                </a:solidFill>
                <a:latin typeface="Noto Sans SC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487168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2487168" cy="164592"/>
          </a:xfrm>
          <a:prstGeom prst="rect">
            <a:avLst/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67128"/>
            <a:ext cx="960120" cy="310896"/>
          </a:xfrm>
          <a:prstGeom prst="roundRect">
            <a:avLst>
              <a:gd name="adj" fmla="val 8000"/>
            </a:avLst>
          </a:prstGeom>
          <a:solidFill>
            <a:srgbClr val="4E8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71700"/>
            <a:ext cx="960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70" b="1">
                <a:solidFill>
                  <a:srgbClr val="FFFFFF"/>
                </a:solidFill>
                <a:latin typeface="Noto Sans SC"/>
              </a:rPr>
              <a:t>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6207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2520"/>
                </a:solidFill>
                <a:latin typeface="Noto Sans SC"/>
              </a:rPr>
              <a:t>隐私边界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196596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80" b="0">
                <a:solidFill>
                  <a:srgbClr val="65736D"/>
                </a:solidFill>
                <a:latin typeface="Noto Sans SC"/>
              </a:rPr>
              <a:t>主要用户与次要用户分离；识屏、QQ 空间、私密阅读和外部记忆均可独立关闭。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783080"/>
            <a:ext cx="2487168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1783080"/>
            <a:ext cx="2487168" cy="164592"/>
          </a:xfrm>
          <a:prstGeom prst="rect">
            <a:avLst/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30752" y="2167128"/>
            <a:ext cx="960120" cy="310896"/>
          </a:xfrm>
          <a:prstGeom prst="roundRect">
            <a:avLst>
              <a:gd name="adj" fmla="val 8000"/>
            </a:avLst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171700"/>
            <a:ext cx="960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70" b="1">
                <a:solidFill>
                  <a:srgbClr val="FFFFFF"/>
                </a:solidFill>
                <a:latin typeface="Noto Sans SC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86207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2520"/>
                </a:solidFill>
                <a:latin typeface="Noto Sans SC"/>
              </a:rPr>
              <a:t>成本边界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520440"/>
            <a:ext cx="196596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80" b="0">
                <a:solidFill>
                  <a:srgbClr val="65736D"/>
                </a:solidFill>
                <a:latin typeface="Noto Sans SC"/>
              </a:rPr>
              <a:t>日程细化、群聊整理、图片理解和创作都会增加调用；使用分流、缓存与限额。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783080"/>
            <a:ext cx="2487168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91072" y="1783080"/>
            <a:ext cx="2487168" cy="164592"/>
          </a:xfrm>
          <a:prstGeom prst="rect">
            <a:avLst/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47104" y="2167128"/>
            <a:ext cx="960120" cy="310896"/>
          </a:xfrm>
          <a:prstGeom prst="roundRect">
            <a:avLst>
              <a:gd name="adj" fmla="val 8000"/>
            </a:avLst>
          </a:prstGeom>
          <a:solidFill>
            <a:srgbClr val="557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47104" y="2171700"/>
            <a:ext cx="960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70" b="1">
                <a:solidFill>
                  <a:srgbClr val="FFFFFF"/>
                </a:solidFill>
                <a:latin typeface="Noto Sans SC"/>
              </a:rPr>
              <a:t>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86207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2520"/>
                </a:solidFill>
                <a:latin typeface="Noto Sans SC"/>
              </a:rPr>
              <a:t>平台边界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520440"/>
            <a:ext cx="196596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80" b="0">
                <a:solidFill>
                  <a:srgbClr val="65736D"/>
                </a:solidFill>
                <a:latin typeface="Noto Sans SC"/>
              </a:rPr>
              <a:t>QQ 官方通道不支持 QQ 空间、戳一戳、原生撤回和合并转发，运行时自动降级。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7424" y="1783080"/>
            <a:ext cx="2487168" cy="3639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07424" y="1783080"/>
            <a:ext cx="2487168" cy="164592"/>
          </a:xfrm>
          <a:prstGeom prst="rect">
            <a:avLst/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63456" y="2167128"/>
            <a:ext cx="960120" cy="310896"/>
          </a:xfrm>
          <a:prstGeom prst="roundRect">
            <a:avLst>
              <a:gd name="adj" fmla="val 8000"/>
            </a:avLst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6" y="2171700"/>
            <a:ext cx="96012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70" b="1">
                <a:solidFill>
                  <a:srgbClr val="FFFFFF"/>
                </a:solidFill>
                <a:latin typeface="Noto Sans SC"/>
              </a:rPr>
              <a:t>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2862072"/>
            <a:ext cx="1965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72520"/>
                </a:solidFill>
                <a:latin typeface="Noto Sans SC"/>
              </a:rPr>
              <a:t>适用边界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3520440"/>
            <a:ext cx="196596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80" b="0">
                <a:solidFill>
                  <a:srgbClr val="65736D"/>
                </a:solidFill>
                <a:latin typeface="Noto Sans SC"/>
              </a:rPr>
              <a:t>适合愿意长期调人格、关系和生活逻辑的人；纯命令型机器人不需要这么重。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6" y="5824728"/>
            <a:ext cx="9784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F5A49"/>
                </a:solidFill>
                <a:latin typeface="Noto Sans SC"/>
              </a:rPr>
              <a:t>推荐给：</a:t>
            </a:r>
            <a:r>
              <a:rPr sz="1100" b="0">
                <a:solidFill>
                  <a:srgbClr val="65736D"/>
                </a:solidFill>
                <a:latin typeface="Noto Sans SC"/>
              </a:rPr>
              <a:t>希望角色长期陪伴、有连续生活与关系的人。    </a:t>
            </a:r>
            <a:r>
              <a:rPr sz="1200" b="1">
                <a:solidFill>
                  <a:srgbClr val="C96E5A"/>
                </a:solidFill>
                <a:latin typeface="Noto Sans SC"/>
              </a:rPr>
              <a:t>不必使用：</a:t>
            </a:r>
            <a:r>
              <a:rPr sz="1100" b="0">
                <a:solidFill>
                  <a:srgbClr val="65736D"/>
                </a:solidFill>
                <a:latin typeface="Noto Sans SC"/>
              </a:rPr>
              <a:t>只需要快速问答和命令执行的工具型 Bot。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94360" y="6583680"/>
            <a:ext cx="5120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我会永远陪着你 · astrbot_plugin_private_companion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83680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65736D"/>
                </a:solidFill>
                <a:latin typeface="Noto Sans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A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5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658368"/>
            <a:ext cx="1207008" cy="120700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212848" y="822960"/>
            <a:ext cx="1280160" cy="310896"/>
          </a:xfrm>
          <a:prstGeom prst="roundRect">
            <a:avLst>
              <a:gd name="adj" fmla="val 8000"/>
            </a:avLst>
          </a:prstGeom>
          <a:solidFill>
            <a:srgbClr val="D5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12848" y="827532"/>
            <a:ext cx="128016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" b="1">
                <a:solidFill>
                  <a:srgbClr val="FFFFFF"/>
                </a:solidFill>
                <a:latin typeface="Noto Sans SC"/>
              </a:rPr>
              <a:t>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>
                <a:solidFill>
                  <a:srgbClr val="FFFFFF"/>
                </a:solidFill>
                <a:latin typeface="Noto Serif SC"/>
              </a:rPr>
              <a:t>当我没有和 Bot 说话时，
她还在做什么？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85032"/>
            <a:ext cx="699516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E5EEE8"/>
                </a:solidFill>
                <a:latin typeface="Noto Sans SC"/>
              </a:rPr>
              <a:t>状态影响日程，日程产生见闻，见闻形成主动候选；
一次聊天，又继续影响之后的关系、日记和计划。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941832"/>
            <a:ext cx="3154680" cy="4736592"/>
          </a:xfrm>
          <a:prstGeom prst="roundRect">
            <a:avLst>
              <a:gd name="adj" fmla="val 8000"/>
            </a:avLst>
          </a:prstGeom>
          <a:solidFill>
            <a:srgbClr val="2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59368" y="1444752"/>
            <a:ext cx="242316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Noto Serif SC"/>
              </a:rPr>
              <a:t>我会永远
陪着你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9368" y="2788920"/>
            <a:ext cx="2423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6ECD1"/>
                </a:solidFill>
                <a:latin typeface="Noto Sans SC"/>
              </a:rPr>
              <a:t>AstrBot 持续陪伴编排插件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51392" y="3401568"/>
            <a:ext cx="2029968" cy="0"/>
          </a:xfrm>
          <a:prstGeom prst="line">
            <a:avLst/>
          </a:prstGeom>
          <a:ln w="12700">
            <a:solidFill>
              <a:srgbClr val="4E80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59368" y="3776472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9CB9A5"/>
                </a:solidFill>
                <a:latin typeface="Noto Sans SC"/>
              </a:rPr>
              <a:t>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8" y="4096512"/>
            <a:ext cx="2697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FFFFFF"/>
                </a:solidFill>
                <a:latin typeface="Noto Sans SC"/>
              </a:rPr>
              <a:t>menglimi/
astrbot_plugin_private_companion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8" y="5065776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D5A746"/>
                </a:solidFill>
                <a:latin typeface="Noto Sans SC"/>
              </a:rPr>
              <a:t>交流群  1097283005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5230368"/>
            <a:ext cx="1901952" cy="310896"/>
          </a:xfrm>
          <a:prstGeom prst="roundRect">
            <a:avLst>
              <a:gd name="adj" fmla="val 8000"/>
            </a:avLst>
          </a:prstGeom>
          <a:solidFill>
            <a:srgbClr val="C9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234940"/>
            <a:ext cx="1901952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Noto Sans SC"/>
              </a:rPr>
              <a:t>让 Bot 像人一样活着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2488" y="6547104"/>
            <a:ext cx="8046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9CB9A5"/>
                </a:solidFill>
                <a:latin typeface="Noto Sans SC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我会永远陪着你 - AstrBot 持续陪伴插件介绍</dc:title>
  <dc:subject>插件展示与推荐</dc:subject>
  <dc:creator>menglimi</dc:creator>
  <cp:keywords/>
  <dc:description>基于 astrbot_plugin_private_companion 5.10.4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