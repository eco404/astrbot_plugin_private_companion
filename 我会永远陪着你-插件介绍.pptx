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2805862f8e475a" /><Relationship Type="http://schemas.openxmlformats.org/officeDocument/2006/relationships/extended-properties" Target="/docProps/app.xml" Id="R982343ccc2054bef" /><Relationship Type="http://schemas.openxmlformats.org/officeDocument/2006/relationships/officeDocument" Target="/ppt/presentation.xml" Id="Rc76b7f4eba684b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c09601b28e4343"/>
  </p:sldMasterIdLst>
  <p:notesMasterIdLst>
    <p:notesMasterId xmlns:r="http://schemas.openxmlformats.org/officeDocument/2006/relationships" r:id="Raedc3e69c850448f"/>
  </p:notesMasterIdLst>
  <p:sldIdLst>
    <p:sldId xmlns:r="http://schemas.openxmlformats.org/officeDocument/2006/relationships" id="256" r:id="R742d0cbfe94445fd"/>
    <p:sldId xmlns:r="http://schemas.openxmlformats.org/officeDocument/2006/relationships" id="257" r:id="R95a8fa28a4d240b8"/>
    <p:sldId xmlns:r="http://schemas.openxmlformats.org/officeDocument/2006/relationships" id="258" r:id="Rc78fb01454c6464a"/>
    <p:sldId xmlns:r="http://schemas.openxmlformats.org/officeDocument/2006/relationships" id="259" r:id="R11ba0cb924dc4445"/>
    <p:sldId xmlns:r="http://schemas.openxmlformats.org/officeDocument/2006/relationships" id="260" r:id="Recf26ce825594a18"/>
    <p:sldId xmlns:r="http://schemas.openxmlformats.org/officeDocument/2006/relationships" id="261" r:id="R15a2531e857e4df8"/>
    <p:sldId xmlns:r="http://schemas.openxmlformats.org/officeDocument/2006/relationships" id="262" r:id="Raa7cf008c5f94f4f"/>
    <p:sldId xmlns:r="http://schemas.openxmlformats.org/officeDocument/2006/relationships" id="263" r:id="R8b93c514ae58451d"/>
    <p:sldId xmlns:r="http://schemas.openxmlformats.org/officeDocument/2006/relationships" id="264" r:id="R4451ba4f2ea54f8d"/>
    <p:sldId xmlns:r="http://schemas.openxmlformats.org/officeDocument/2006/relationships" id="265" r:id="R96efa3be57ab4720"/>
    <p:sldId xmlns:r="http://schemas.openxmlformats.org/officeDocument/2006/relationships" id="266" r:id="R97ba2d1135314232"/>
    <p:sldId xmlns:r="http://schemas.openxmlformats.org/officeDocument/2006/relationships" id="267" r:id="Rac80bda3d9a044aa"/>
    <p:sldId xmlns:r="http://schemas.openxmlformats.org/officeDocument/2006/relationships" id="268" r:id="R70e9e01ce96f4534"/>
    <p:sldId xmlns:r="http://schemas.openxmlformats.org/officeDocument/2006/relationships" id="269" r:id="Rafd2861c6c4d492a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c120ca7af645de" /><Relationship Type="http://schemas.openxmlformats.org/officeDocument/2006/relationships/slideMaster" Target="/ppt/slideMasters/slideMaster1.xml" Id="R4ac09601b28e4343" /><Relationship Type="http://schemas.openxmlformats.org/officeDocument/2006/relationships/notesMaster" Target="/ppt/notesMasters/notesMaster1.xml" Id="Raedc3e69c850448f" /><Relationship Type="http://schemas.openxmlformats.org/officeDocument/2006/relationships/presProps" Target="/ppt/presProps.xml" Id="R52d10b1a2b1d4850" /><Relationship Type="http://schemas.openxmlformats.org/officeDocument/2006/relationships/viewProps" Target="/ppt/viewProps.xml" Id="Rfda1c48a1a1b46b6" /><Relationship Type="http://schemas.openxmlformats.org/officeDocument/2006/relationships/tableStyles" Target="/ppt/tableStyles.xml" Id="Ra5ce8768f0944166" /><Relationship Type="http://schemas.openxmlformats.org/officeDocument/2006/relationships/slide" Target="/ppt/slides/slide1.xml" Id="R742d0cbfe94445fd" /><Relationship Type="http://schemas.openxmlformats.org/officeDocument/2006/relationships/slide" Target="/ppt/slides/slide2.xml" Id="R95a8fa28a4d240b8" /><Relationship Type="http://schemas.openxmlformats.org/officeDocument/2006/relationships/slide" Target="/ppt/slides/slide3.xml" Id="Rc78fb01454c6464a" /><Relationship Type="http://schemas.openxmlformats.org/officeDocument/2006/relationships/slide" Target="/ppt/slides/slide4.xml" Id="R11ba0cb924dc4445" /><Relationship Type="http://schemas.openxmlformats.org/officeDocument/2006/relationships/slide" Target="/ppt/slides/slide5.xml" Id="Recf26ce825594a18" /><Relationship Type="http://schemas.openxmlformats.org/officeDocument/2006/relationships/slide" Target="/ppt/slides/slide6.xml" Id="R15a2531e857e4df8" /><Relationship Type="http://schemas.openxmlformats.org/officeDocument/2006/relationships/slide" Target="/ppt/slides/slide7.xml" Id="Raa7cf008c5f94f4f" /><Relationship Type="http://schemas.openxmlformats.org/officeDocument/2006/relationships/slide" Target="/ppt/slides/slide8.xml" Id="R8b93c514ae58451d" /><Relationship Type="http://schemas.openxmlformats.org/officeDocument/2006/relationships/slide" Target="/ppt/slides/slide9.xml" Id="R4451ba4f2ea54f8d" /><Relationship Type="http://schemas.openxmlformats.org/officeDocument/2006/relationships/slide" Target="/ppt/slides/slide10.xml" Id="R96efa3be57ab4720" /><Relationship Type="http://schemas.openxmlformats.org/officeDocument/2006/relationships/slide" Target="/ppt/slides/slide11.xml" Id="R97ba2d1135314232" /><Relationship Type="http://schemas.openxmlformats.org/officeDocument/2006/relationships/slide" Target="/ppt/slides/slide12.xml" Id="Rac80bda3d9a044aa" /><Relationship Type="http://schemas.openxmlformats.org/officeDocument/2006/relationships/slide" Target="/ppt/slides/slide13.xml" Id="R70e9e01ce96f4534" /><Relationship Type="http://schemas.openxmlformats.org/officeDocument/2006/relationships/slide" Target="/ppt/slides/slide14.xml" Id="Rafd2861c6c4d49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bd756760314e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9123bb96a8473e" /><Relationship Type="http://schemas.openxmlformats.org/officeDocument/2006/relationships/notesMaster" Target="/ppt/notesMasters/notesMaster1.xml" Id="Rf5aded9c150948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1633d83bd94b54" /><Relationship Type="http://schemas.openxmlformats.org/officeDocument/2006/relationships/notesMaster" Target="/ppt/notesMasters/notesMaster1.xml" Id="R16baae3ecaf54e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3eabc03e364c84" /><Relationship Type="http://schemas.openxmlformats.org/officeDocument/2006/relationships/notesMaster" Target="/ppt/notesMasters/notesMaster1.xml" Id="Rff4681f67a114b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e91aa6f489415b" /><Relationship Type="http://schemas.openxmlformats.org/officeDocument/2006/relationships/notesMaster" Target="/ppt/notesMasters/notesMaster1.xml" Id="Rdce4f184e9354c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f4f3d4560e4835" /><Relationship Type="http://schemas.openxmlformats.org/officeDocument/2006/relationships/notesMaster" Target="/ppt/notesMasters/notesMaster1.xml" Id="R87b56c1c3fba43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ba6366056a4dc9" /><Relationship Type="http://schemas.openxmlformats.org/officeDocument/2006/relationships/notesMaster" Target="/ppt/notesMasters/notesMaster1.xml" Id="R6e0f1cb5b87f46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0ffef7745f45bd" /><Relationship Type="http://schemas.openxmlformats.org/officeDocument/2006/relationships/notesMaster" Target="/ppt/notesMasters/notesMaster1.xml" Id="R625a66e8806740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83ffab8cbf4327" /><Relationship Type="http://schemas.openxmlformats.org/officeDocument/2006/relationships/notesMaster" Target="/ppt/notesMasters/notesMaster1.xml" Id="Rdd10fb322da745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f4d0a6ae25470f" /><Relationship Type="http://schemas.openxmlformats.org/officeDocument/2006/relationships/notesMaster" Target="/ppt/notesMasters/notesMaster1.xml" Id="Rb1e4ce2736d642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6da394548d46f3" /><Relationship Type="http://schemas.openxmlformats.org/officeDocument/2006/relationships/notesMaster" Target="/ppt/notesMasters/notesMaster1.xml" Id="R8fdaa9378ebd41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9ea6f04c68471e" /><Relationship Type="http://schemas.openxmlformats.org/officeDocument/2006/relationships/notesMaster" Target="/ppt/notesMasters/notesMaster1.xml" Id="R13b6800085a94e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03fd0925024849" /><Relationship Type="http://schemas.openxmlformats.org/officeDocument/2006/relationships/notesMaster" Target="/ppt/notesMasters/notesMaster1.xml" Id="R5b325a1b63914e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6d75b77f8f4555" /><Relationship Type="http://schemas.openxmlformats.org/officeDocument/2006/relationships/notesMaster" Target="/ppt/notesMasters/notesMaster1.xml" Id="Rbd86802ceaad4d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80c59ff67c44a3" /><Relationship Type="http://schemas.openxmlformats.org/officeDocument/2006/relationships/notesMaster" Target="/ppt/notesMasters/notesMaster1.xml" Id="Rc9b58245b13742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ccd3aa5f4242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3910ec80c546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f300a7ea6445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777664f72d49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8e5a9f007449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e1293b4a364a7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995cf0ad054f9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f1cdaea08c4bd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5480384ab482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734800ecde437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ae719631ac4be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C1B70-2576-43BA-B569-23B323B7CD1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96A7B26-C77D-4EBC-9674-CEF4545FAD6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F3D1D9-5A57-4550-BF2A-D0EA2711EF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A6D0EF-5899-449D-B4E9-738E54484B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D32B22-A844-421D-8F9F-10A1F74B02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58D237-FEDC-4890-A379-75540C3EC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177F2C9-D55C-4993-AD30-B8E85A217EC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BC409F-F128-4621-98C5-C446EE2AE3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34CA91C-AB7F-424D-8E79-EE81913C91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69A339-084E-4001-94F2-35B2E79AF9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4EFD5F2-D44D-4049-99BB-A40E63D47C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3E952EA-0EFD-4833-B8B7-7781EC8EE0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736127-2BE7-4785-A1E4-0856F51826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49FACB8-F10F-48D3-8749-B829621A0B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899460-AC15-4BE2-8659-2C35836787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3CFCF0-350B-4F3F-BC2C-E14FBA433F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3F65C56-FF00-4CF9-896A-A5D2B97988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E18E0E6-0704-483B-81E5-2A5ED301A8B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C4C311-43BF-47FF-8CBC-74188D7C66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499DD97-6D4F-42F3-9C78-CF07A6890B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B04C094-9B11-450A-AD96-C9C478C533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14E8187-5C44-4D6A-8380-F4373785F4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BB156E-CE03-4458-9169-3F4A19F681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B609CD-1782-4DAA-AB94-28825F853A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B1529F9-E8DB-4852-908B-E62DD3A9802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8A077A0-99D4-432B-A629-82C0AD71E68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208F3AC-6606-4497-98E0-14B5824A3F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53A3AE9-F893-49A4-AECF-0B43AA4617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C5FEA14-0B8F-4628-887C-22F4B42679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5AEBD61-7E06-4B6A-8ED2-4C6F77F85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574E35D-DFF1-423B-9050-B2EB731F2C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5D8979-4FA5-4CA1-B5BF-2729FC7814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4311DEA-3899-4971-A720-C93AD6E606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17F65AB-D2EE-4622-B9C6-CA021BA40F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DF25FA6-B4F3-424B-8E65-FE88EA2AE9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10D811B-D124-4FA3-86B7-00F9D9BCE5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9F53CC-C19B-49FB-9E10-3407CBCCE1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0C9ADEF-A25C-4EF9-9C06-18C911D4BC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86E10E6-B836-48D8-BB69-509C1B24819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181A07-8CF7-4E6E-9BB8-80B4912EC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11100A-E14D-4689-83E9-01577B6142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62AFBD-5BB8-494F-B363-E879D27F22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1CC0083-CF66-4072-BD3B-C3E5E2BC3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BA4F687-A6F1-44E0-A94D-3935C69BAD6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2B1C51E-8608-47C8-BA6F-D7D00F5BB9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BE4B45F-0BD8-4AF2-838D-E9C55087FD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E361B86-BFA0-40E4-BCD7-70B540489E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34DA063-61AF-4473-B8E1-6B241ADC11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B3E8D9-D94F-4F3A-A570-75E2D3677E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FFEAA1A-0670-4F59-A907-0392C3C192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A8EF49E-4558-43CB-8624-5D1235693D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969E32-213E-40EC-9C8C-50634F4740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0EC8BE-3B37-4DFF-B255-2AC51C58D5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77ED8AB-68D2-4DBB-864F-B43C1D7A5A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284ADD4-3FE7-4173-BAD8-FFD8C4B7B9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361A9A-29F5-4D2B-A282-F7141C24CE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2863B-7EC8-4F18-948F-595EDE2A4D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CC0E33-FDD3-485F-8E78-1D7A1A888C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3b313a81744db7" /><Relationship Type="http://schemas.openxmlformats.org/officeDocument/2006/relationships/slideLayout" Target="/ppt/slideLayouts/slideLayout1.xml" Id="R52cf4e0f78d14167" /><Relationship Type="http://schemas.openxmlformats.org/officeDocument/2006/relationships/slideLayout" Target="/ppt/slideLayouts/slideLayout2.xml" Id="Ra22bebf348e24cef" /><Relationship Type="http://schemas.openxmlformats.org/officeDocument/2006/relationships/slideLayout" Target="/ppt/slideLayouts/slideLayout3.xml" Id="Re8da9dde83ff4d11" /><Relationship Type="http://schemas.openxmlformats.org/officeDocument/2006/relationships/slideLayout" Target="/ppt/slideLayouts/slideLayout4.xml" Id="Re0771dcb466d4503" /><Relationship Type="http://schemas.openxmlformats.org/officeDocument/2006/relationships/slideLayout" Target="/ppt/slideLayouts/slideLayout5.xml" Id="R74a949cbe4894b04" /><Relationship Type="http://schemas.openxmlformats.org/officeDocument/2006/relationships/slideLayout" Target="/ppt/slideLayouts/slideLayout6.xml" Id="R6ab52b7410514b9a" /><Relationship Type="http://schemas.openxmlformats.org/officeDocument/2006/relationships/slideLayout" Target="/ppt/slideLayouts/slideLayout7.xml" Id="Raab1c8fae48843de" /><Relationship Type="http://schemas.openxmlformats.org/officeDocument/2006/relationships/slideLayout" Target="/ppt/slideLayouts/slideLayout8.xml" Id="R1b4e1f0283ca42fd" /><Relationship Type="http://schemas.openxmlformats.org/officeDocument/2006/relationships/slideLayout" Target="/ppt/slideLayouts/slideLayout9.xml" Id="R7f5f733342604601" /><Relationship Type="http://schemas.openxmlformats.org/officeDocument/2006/relationships/slideLayout" Target="/ppt/slideLayouts/slideLayout10.xml" Id="R136d8aac94fe403d" /><Relationship Type="http://schemas.openxmlformats.org/officeDocument/2006/relationships/slideLayout" Target="/ppt/slideLayouts/slideLayout11.xml" Id="Re61b7cfd5a9b4a4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8D4A332-1316-437E-B1C5-81B74A410B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AABE7F-424B-4C28-B12A-34E9F195D4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4377D16-7003-4186-93C0-EDA56E39440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B893D89-1A5E-4B5F-A9AF-A15CECE820D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BC4A57-4ABF-4CEE-B0B8-836BF0BD3B3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cf4e0f78d14167"/>
    <p:sldLayoutId xmlns:r="http://schemas.openxmlformats.org/officeDocument/2006/relationships" id="2147483650" r:id="Ra22bebf348e24cef"/>
    <p:sldLayoutId xmlns:r="http://schemas.openxmlformats.org/officeDocument/2006/relationships" id="2147483651" r:id="Re8da9dde83ff4d11"/>
    <p:sldLayoutId xmlns:r="http://schemas.openxmlformats.org/officeDocument/2006/relationships" id="2147483652" r:id="Re0771dcb466d4503"/>
    <p:sldLayoutId xmlns:r="http://schemas.openxmlformats.org/officeDocument/2006/relationships" id="2147483653" r:id="R74a949cbe4894b04"/>
    <p:sldLayoutId xmlns:r="http://schemas.openxmlformats.org/officeDocument/2006/relationships" id="2147483654" r:id="R6ab52b7410514b9a"/>
    <p:sldLayoutId xmlns:r="http://schemas.openxmlformats.org/officeDocument/2006/relationships" id="2147483655" r:id="Raab1c8fae48843de"/>
    <p:sldLayoutId xmlns:r="http://schemas.openxmlformats.org/officeDocument/2006/relationships" id="2147483656" r:id="R1b4e1f0283ca42fd"/>
    <p:sldLayoutId xmlns:r="http://schemas.openxmlformats.org/officeDocument/2006/relationships" id="2147483657" r:id="R7f5f733342604601"/>
    <p:sldLayoutId xmlns:r="http://schemas.openxmlformats.org/officeDocument/2006/relationships" id="2147483658" r:id="R136d8aac94fe403d"/>
    <p:sldLayoutId xmlns:r="http://schemas.openxmlformats.org/officeDocument/2006/relationships" id="2147483659" r:id="Re61b7cfd5a9b4a4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e3047d51604eac" /><Relationship Type="http://schemas.openxmlformats.org/officeDocument/2006/relationships/image" Target="/ppt/media/image.png" Id="R043e3a49d8be4645" /><Relationship Type="http://schemas.openxmlformats.org/officeDocument/2006/relationships/notesSlide" Target="/ppt/notesSlides/notesSlide1.xml" Id="R3fae61668ee641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131ea782e64dfe" /><Relationship Type="http://schemas.openxmlformats.org/officeDocument/2006/relationships/notesSlide" Target="/ppt/notesSlides/notesSlide2.xml" Id="Re10f93d75c3345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7503a1325b4951" /><Relationship Type="http://schemas.openxmlformats.org/officeDocument/2006/relationships/image" Target="/ppt/media/image.png" Id="R27e0738ed2b7453b" /><Relationship Type="http://schemas.openxmlformats.org/officeDocument/2006/relationships/notesSlide" Target="/ppt/notesSlides/notesSlide3.xml" Id="R7c126f8346e74b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3d0000adef4565" /><Relationship Type="http://schemas.openxmlformats.org/officeDocument/2006/relationships/notesSlide" Target="/ppt/notesSlides/notesSlide4.xml" Id="R5a62176dfb5244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2d724c33714640" /><Relationship Type="http://schemas.openxmlformats.org/officeDocument/2006/relationships/notesSlide" Target="/ppt/notesSlides/notesSlide5.xml" Id="Rfc13a207fe954e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473e8dd92c4ccb" /><Relationship Type="http://schemas.openxmlformats.org/officeDocument/2006/relationships/notesSlide" Target="/ppt/notesSlides/notesSlide6.xml" Id="R1013c10c4ad44d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50161a00ca448c" /><Relationship Type="http://schemas.openxmlformats.org/officeDocument/2006/relationships/notesSlide" Target="/ppt/notesSlides/notesSlide7.xml" Id="R4f13d1711bf549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2b423e8c124dec" /><Relationship Type="http://schemas.openxmlformats.org/officeDocument/2006/relationships/notesSlide" Target="/ppt/notesSlides/notesSlide8.xml" Id="Rf925a290cb2a4e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fba848c3d044bf" /><Relationship Type="http://schemas.openxmlformats.org/officeDocument/2006/relationships/notesSlide" Target="/ppt/notesSlides/notesSlide9.xml" Id="Rb868c51120db4a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30df47ffd34350" /><Relationship Type="http://schemas.openxmlformats.org/officeDocument/2006/relationships/notesSlide" Target="/ppt/notesSlides/notesSlide10.xml" Id="R4ded9e1568a049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f39133dcc84c2d" /><Relationship Type="http://schemas.openxmlformats.org/officeDocument/2006/relationships/image" Target="/ppt/media/image.png" Id="R0841c753cacf499c" /><Relationship Type="http://schemas.openxmlformats.org/officeDocument/2006/relationships/notesSlide" Target="/ppt/notesSlides/notesSlide11.xml" Id="R96deae12289a41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ccdd0130a44c85" /><Relationship Type="http://schemas.openxmlformats.org/officeDocument/2006/relationships/notesSlide" Target="/ppt/notesSlides/notesSlide12.xml" Id="R7a991c0ec3b7481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b619faef9a47e3" /><Relationship Type="http://schemas.openxmlformats.org/officeDocument/2006/relationships/notesSlide" Target="/ppt/notesSlides/notesSlide13.xml" Id="R1f95834b79214e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f54bad2ff4417b" /><Relationship Type="http://schemas.openxmlformats.org/officeDocument/2006/relationships/image" Target="/ppt/media/image.png" Id="R5575e30006cb48f9" /><Relationship Type="http://schemas.openxmlformats.org/officeDocument/2006/relationships/notesSlide" Target="/ppt/notesSlides/notesSlide14.xml" Id="R63983134238047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852DE-7D27-4D27-975A-50C33CB5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5275E9A-8768-4A9A-BCBD-FE584A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0"/>
            <a:ext cx="409651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710E5B2C-C08D-4DA6-AC16-1CE70D65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6692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Oval 4">
            <a:extLst xmlns:a="http://schemas.openxmlformats.org/drawingml/2006/main">
              <a:ext uri="{FF2B5EF4-FFF2-40B4-BE49-F238E27FC236}">
                <a16:creationId xmlns:a16="http://schemas.microsoft.com/office/drawing/2014/main" id="{1A1B472B-CE9F-4A19-93B1-D6EFE706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56692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86ECE6B6-577E-4C31-A64D-038EF4AD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8792" y="56692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3ED6F9D8-8ECC-4AB8-9C23-AE452040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2024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6E06F51C-F4E4-40FD-91B1-3FE55454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192024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085943D-1FC2-49B3-83B2-04CEF976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8792" y="192024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1AD43EB-B253-44D5-ACBB-7462D4AC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7355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40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e3a49d8be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58200" y="1124712"/>
            <a:ext cx="3246120" cy="3246120"/>
          </a:xfrm>
          <a:prstGeom xmlns:a="http://schemas.openxmlformats.org/drawingml/2006/main" prst="rect">
            <a:avLst/>
          </a:prstGeom>
        </p:spPr>
      </p:pic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84F9982-839B-4D3B-A8A2-1B57C813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66928"/>
            <a:ext cx="2331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FFA3AD6-04DA-4E3D-A546-1C85223D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71500"/>
            <a:ext cx="2331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ASTRBOT PLUGIN · V6.0.2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4133B04-29AB-46BA-9304-DDF461A7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68580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8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我会永远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8812774-3833-43D3-9C73-35AD38CD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75688"/>
            <a:ext cx="68580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800" b="1">
                <a:solidFill>
                  <a:srgbClr val="D5A746"/>
                </a:solidFill>
                <a:latin typeface="Noto Serif SC"/>
                <a:ea typeface="Noto Serif SC"/>
                <a:cs typeface="Noto Serif SC"/>
              </a:rPr>
              <a:t>陪着你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D3FE30F-9F9B-4F67-8713-AF345297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127248"/>
            <a:ext cx="6309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10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让 Bot 像人一样活着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3263D8F-D9FC-47BF-A55A-518508E3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749039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150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状态、日程、关系与记忆持续运转，
再把生活里的念头变成自然的行动。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DFB7ED2-313C-4A51-90A3-5429957F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CE6E36B-F3A8-4E31-BD6B-A41B8AF4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生活连续性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B8EB13C2-9C24-45AF-8F68-F20236FF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256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54C749A-1DE6-4925-8BB3-DF93C47B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256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主动行为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986F3A7-9EEB-443A-AC7A-01E94DB3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D9ABC4C-AC64-4C12-84D3-C3FE8D46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多模态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F28A0C0D-06F7-4B3F-829B-EDB5E7F3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029200"/>
            <a:ext cx="11887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59C3493-9546-4DB0-91BE-ABF45ED7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033772"/>
            <a:ext cx="11887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长期创作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05E023F-AAC1-4A7E-9358-01AFF72E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72200"/>
            <a:ext cx="6035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github.com/menglimi/astrbot_plugin_private_companion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22FB334-7F18-415B-9067-C26FDA81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232" y="4882896"/>
            <a:ext cx="2743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生活模拟 · AI 能力强化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8209A29-3F30-47E6-8856-BAF74D45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5321808"/>
            <a:ext cx="3108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不是定时问候，而是一条长期体验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9661653E-1874-427D-872C-9C8BA9D8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47104"/>
            <a:ext cx="6858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01 / 14</a:t>
            </a:r>
          </a:p>
        </p:txBody>
      </p:sp>
    </p:spTree>
    <p:extLst>
      <p:ext uri="{BB962C8B-B14F-4D97-AF65-F5344CB8AC3E}">
        <p14:creationId xmlns:p14="http://schemas.microsoft.com/office/powerpoint/2010/main" val="15894957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38DA64-DDE4-40AE-AF03-A600ABBE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WHY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2F2B34-0E7A-495B-8BC3-CAC10F58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当你不说话时，Bot 还存在吗？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F31FE0C-AE4B-4D45-A5EA-396E654C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从一轮问答，走向持续存在的角色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B0EEB5-1880-4207-A82D-010B5DD3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410800F-483B-4C69-910F-BA442260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4754880" cy="41605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BDB1A7D-4103-4872-9850-2A2B4EDA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02996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65736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7BA9965-C18C-4DCB-A150-6B3BA603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03454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传统聊天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EED92B-5F8A-4848-85D4-6966EE38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651760"/>
            <a:ext cx="135331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你发消息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B984D50-D0D3-4D8A-87F9-29BA2586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578608"/>
            <a:ext cx="1444752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9658053-81C4-42B1-8AD9-E4755331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310128"/>
            <a:ext cx="1325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Bot 回答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5A65047-8A19-49C0-8D05-66BE481B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84" y="3227832"/>
            <a:ext cx="1481328" cy="49377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E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826EA153-EFDE-4599-80E0-18BEC665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816352"/>
            <a:ext cx="850392" cy="64008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E3F35795-ABD2-4C5A-9040-B0FA5134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4233672"/>
            <a:ext cx="2240280" cy="0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41156D52-358E-4EB1-B981-6502E57F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3B6578ED-196D-4361-B69E-B0170A8E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D964EA52-7997-4591-A989-48A2A527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1763B9E5-E1D5-4DD9-A2B5-9F04AB43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39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2A2B3F51-D277-482E-BC94-E91BDF1A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79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DC780268-91D1-43A7-BE3D-F527EFE5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EB03A662-B86E-4A06-91C2-340C039A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59" y="418795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005C36F-E2C3-4340-A6C6-6F571B73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736592"/>
            <a:ext cx="40416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会话结束，状态归零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5B7C59E-E419-471F-A259-A55AA1FB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239512"/>
            <a:ext cx="3931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昨天的关系、今天的生活、下一步的行动彼此割裂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4F92F78E-EBA1-4834-A9ED-08E13998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592" y="1783080"/>
            <a:ext cx="5669280" cy="41605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3CB61667-9CD3-464F-8317-5A2B02B0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1078992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4239263C-7341-494F-A023-CBB65282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34540"/>
            <a:ext cx="1078992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持续陪伴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E6D3C21E-55C9-491C-8AE4-901EFBA5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822191"/>
            <a:ext cx="4498848" cy="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Oval 27">
            <a:extLst xmlns:a="http://schemas.openxmlformats.org/drawingml/2006/main">
              <a:ext uri="{FF2B5EF4-FFF2-40B4-BE49-F238E27FC236}">
                <a16:creationId xmlns:a16="http://schemas.microsoft.com/office/drawing/2014/main" id="{94FF7D94-0031-46AC-B25B-E6709198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660EB9A-A541-4C5D-AF25-00827A0D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69DAE9E-80D0-47C7-8A84-A6CABD30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昨天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88188E0-B42F-4A11-AC09-0AC69D65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736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留下未完话题</a:t>
            </a:r>
          </a:p>
        </p:txBody>
      </p:sp>
      <p:sp>
        <p:nvSpPr>
          <p:cNvPr id="32" name="Oval 31">
            <a:extLst xmlns:a="http://schemas.openxmlformats.org/drawingml/2006/main">
              <a:ext uri="{FF2B5EF4-FFF2-40B4-BE49-F238E27FC236}">
                <a16:creationId xmlns:a16="http://schemas.microsoft.com/office/drawing/2014/main" id="{D21D5ED5-593E-4FE7-85D0-4E373BD9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952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518A3617-3EF8-4950-9A7E-9C51DA62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952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85CDCD9-28A5-4F40-AFD2-E88C6345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5783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今天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E4F2B47B-685A-4B72-A008-2367CD16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状态与日程运转</a:t>
            </a:r>
          </a:p>
        </p:txBody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B55793E-BD77-40E5-8303-0C8985B7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5CC5149-4680-447D-B8EC-CE8C9F25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F3AC6060-DCA9-4936-A056-4451A6F3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此刻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2B75236-85BF-4C38-AA5A-7E80180E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判断是否适合开口</a:t>
            </a:r>
          </a:p>
        </p:txBody>
      </p:sp>
      <p:sp>
        <p:nvSpPr>
          <p:cNvPr id="40" name="Oval 39">
            <a:extLst xmlns:a="http://schemas.openxmlformats.org/drawingml/2006/main">
              <a:ext uri="{FF2B5EF4-FFF2-40B4-BE49-F238E27FC236}">
                <a16:creationId xmlns:a16="http://schemas.microsoft.com/office/drawing/2014/main" id="{320F9C85-3E96-47C2-803B-2BC972E1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288" y="357530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E8ADABFC-8B5B-4929-8846-6856D5FD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288" y="3602736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DF502D86-807F-403E-9D4E-9F88CCCB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19" y="2770632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以后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9C758B6B-FFBE-4B51-BA1D-15781F3A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4251960"/>
            <a:ext cx="12801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行动写回关系与记忆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C7F96998-6924-4D83-B18F-060771EC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129784"/>
            <a:ext cx="50109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80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同一个角色，在聊天之外继续生活</a:t>
            </a:r>
          </a:p>
        </p:txBody>
      </p:sp>
      <p:sp>
        <p:nvSpPr>
          <p:cNvPr id="45" name="Connector 44">
            <a:extLst xmlns:a="http://schemas.openxmlformats.org/drawingml/2006/main">
              <a:ext uri="{FF2B5EF4-FFF2-40B4-BE49-F238E27FC236}">
                <a16:creationId xmlns:a16="http://schemas.microsoft.com/office/drawing/2014/main" id="{3BF9BB88-6AB9-4E44-8CC1-844A3F83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4AC168E0-2E56-4C4D-9045-DB821096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892A390C-8178-44DD-A845-5F0D93E0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1232428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559F4C-EC7C-4CCA-BA42-60D424CC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IDEA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D877778-676F-4CF9-935A-1805EC57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拟人不是堆设定，而是像人一样活着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F12B672-FE2B-4C24-96D3-14BC5ECD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pic>
        <p:nvPicPr>
          <p:cNvPr id="3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0738ed2b745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46920" y="475488"/>
            <a:ext cx="1417320" cy="1417320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7FEA45-5B68-44AC-85AF-0D7A372E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72768"/>
            <a:ext cx="6400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800" b="1">
                <a:solidFill>
                  <a:srgbClr val="D5A746"/>
                </a:solidFill>
                <a:latin typeface="Noto Serif SC"/>
                <a:ea typeface="Noto Serif SC"/>
                <a:cs typeface="Noto Serif SC"/>
              </a:rPr>
              <a:t>“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50A0E5-BC2A-4DCD-9D1F-CB31D089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1640"/>
            <a:ext cx="9052560" cy="1078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</a:pPr>
            <a:r>
              <a:rPr sz="25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Bot 先在自己的世界里形成想法，
再在生活的空隙里把想法变成行动。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65A7D54-B7D0-4369-9026-3745513E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0022B2-3262-47A7-897B-CAD2740B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DF22DA8-EA98-4624-A90C-F7CC21D8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连续生活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7CAB396-3998-4DD9-A9E2-49A49715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状态、日程、位置和天气不随会话清零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300F1C9-315D-40E5-937A-D94FD51D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924C230-00DD-4EDF-A50F-5D300B3E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4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9DE0FDD-7DE0-49E6-BD65-DE41027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4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稳定关系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982BF1F-6A74-4115-A0B9-A4037FD3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4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主要用户、次要用户与群友保持不同边界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E16E3C9-4051-4081-A396-18B11CC5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C4D320E-DFBF-47C0-BF2E-46C56BA6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765B76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DBCB695-0C29-44C6-968C-66650A52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形成念头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A2CD3C-671D-4E3A-A393-E9751D21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见闻、目标、梦境与未完话题成为候选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E2656FC-A7B7-4DBC-99BD-C973129B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3429000"/>
            <a:ext cx="2487168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317D12-ADDB-425C-B364-63559E0F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3675887"/>
            <a:ext cx="457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65F688-52C6-45E9-896E-C6820891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4096512"/>
            <a:ext cx="19751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选择时机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FF25DF-C13D-4936-BCD9-62F3904E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4617720"/>
            <a:ext cx="197510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8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免打扰、休息、繁忙与回应情况决定是否行动</a:t>
            </a:r>
          </a:p>
        </p:txBody>
      </p:sp>
      <p:sp>
        <p:nvSpPr>
          <p:cNvPr id="24" name="Connector 23">
            <a:extLst xmlns:a="http://schemas.openxmlformats.org/drawingml/2006/main">
              <a:ext uri="{FF2B5EF4-FFF2-40B4-BE49-F238E27FC236}">
                <a16:creationId xmlns:a16="http://schemas.microsoft.com/office/drawing/2014/main" id="{98CAA3C9-FCA0-48DD-9205-4F3573DC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79ABEB5-324D-42F9-8DC7-0B20D607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46A4BFDC-438B-415B-8AE7-A13A9ECE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3843358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C7E553-E757-4888-9F80-5730B37B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SYSTEM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AE6E66-8515-4CFA-8732-EDF27772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两条链路，共用同一个角色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F0BFE0-786B-4855-AE19-70A39203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被动回复理解“此刻”，主动消息延续“生活”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227FFA8-6F40-44FD-A592-F90A20E3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225A712-4934-4362-B071-166B615C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73352"/>
            <a:ext cx="109728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982D6-EA44-4941-973B-94D594B2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77924"/>
            <a:ext cx="109728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被动回复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68FC7EB-992C-42FB-9C0F-C29E6DAC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2B45D3-19E8-4E35-9266-A820B57C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用户消息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96CAB02-2652-4134-B216-6FFCDA91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文本 / 图片 / 转发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6E56BB13-F946-4CC7-A1EF-E0992F9D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7" y="26334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DFE865A-7D38-40E4-8E86-A7F1763F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52212-0E91-4659-9599-9CB450FF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当前上下文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16F7F85-124E-47E2-8CD1-A7FEC16E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时间 / 状态 / 日程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0E86F6B0-5E51-47AD-9C29-9DBB914F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6334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40099AB-9822-41A2-B513-3B86F64A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7633087-055E-4D9D-BED4-B48E42A5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08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关系与记忆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C07754-3B8A-4A33-848D-560EF49D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称呼 / 画像 / 话题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735F72F-114D-4CA5-A78F-3FC67F5C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633472"/>
            <a:ext cx="301751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A869C9D-CD03-4ED4-A285-84F0E51E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92D1217-7973-4E90-8635-36FFE1FB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76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发送前处理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2FEC541-DDD4-49B1-98B1-0944000C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归属 / 重复 / TTS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FD91995A-E126-4BB2-B6DD-46CAB230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6334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34634F6-3ADB-421D-9E4F-1EBBB322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1488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EE8CA3EE-2179-464B-B340-51E776A5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23225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自然回复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0B5A0FC-47C1-4C20-A3C9-B020988A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26791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仍由主模型表达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4D688F0-5CFD-4DB4-B8C6-C86869FA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0752"/>
            <a:ext cx="109728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BD0CF6F-C695-431B-A165-A96822F6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5324"/>
            <a:ext cx="109728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主动消息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1AE6554E-E9AE-4924-AE28-D728D6FE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0D269F8-67AA-4AA9-B5AD-74BF4929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生活事件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548FA1F-5BDD-462D-B6C9-BFF9F263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日程 / 天气 / 目标</a:t>
            </a:r>
          </a:p>
        </p:txBody>
      </p:sp>
      <p:sp>
        <p:nvSpPr>
          <p:cNvPr id="32" name="Connector 31">
            <a:extLst xmlns:a="http://schemas.openxmlformats.org/drawingml/2006/main">
              <a:ext uri="{FF2B5EF4-FFF2-40B4-BE49-F238E27FC236}">
                <a16:creationId xmlns:a16="http://schemas.microsoft.com/office/drawing/2014/main" id="{1D62321E-284B-473C-A880-D4B04F7C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7" y="46908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1AC127AF-0FBF-4CD1-A8AF-FF648F40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123427E-508B-42F6-8EFF-2BB9D730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形成候选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9B10FA2-1F7F-43CA-973E-5161D16C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来源 / 时间窗 / 价值</a:t>
            </a:r>
          </a:p>
        </p:txBody>
      </p:sp>
      <p:sp>
        <p:nvSpPr>
          <p:cNvPr id="36" name="Connector 35">
            <a:extLst xmlns:a="http://schemas.openxmlformats.org/drawingml/2006/main">
              <a:ext uri="{FF2B5EF4-FFF2-40B4-BE49-F238E27FC236}">
                <a16:creationId xmlns:a16="http://schemas.microsoft.com/office/drawing/2014/main" id="{9BD9EAE0-EF9F-4204-8DFC-4CDE1B56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46908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7DE31F62-D1B5-4BC6-840E-EEE318B9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18B80D7-C68B-4B14-80A4-31DE0708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08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边界判断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9551ABA1-4650-4395-A09F-C26A5F4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关系 / 休息 / 额度</a:t>
            </a:r>
          </a:p>
        </p:txBody>
      </p:sp>
      <p:sp>
        <p:nvSpPr>
          <p:cNvPr id="40" name="Connector 39">
            <a:extLst xmlns:a="http://schemas.openxmlformats.org/drawingml/2006/main">
              <a:ext uri="{FF2B5EF4-FFF2-40B4-BE49-F238E27FC236}">
                <a16:creationId xmlns:a16="http://schemas.microsoft.com/office/drawing/2014/main" id="{68F8ADE2-A288-4F88-8FB5-00516C22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4690872"/>
            <a:ext cx="301751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5A7AF2A2-5D4F-43CF-B327-B8DFDEBC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EAB17F46-BFEA-429F-8EB1-AD4F387D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76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生成与复核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A166058-479F-4824-8714-0221EC93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内容 / 动作 / 人格</a:t>
            </a:r>
          </a:p>
        </p:txBody>
      </p:sp>
      <p:sp>
        <p:nvSpPr>
          <p:cNvPr id="44" name="Connector 43">
            <a:extLst xmlns:a="http://schemas.openxmlformats.org/drawingml/2006/main">
              <a:ext uri="{FF2B5EF4-FFF2-40B4-BE49-F238E27FC236}">
                <a16:creationId xmlns:a16="http://schemas.microsoft.com/office/drawing/2014/main" id="{C5A5BF20-6162-4F97-A80A-17010626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690872"/>
            <a:ext cx="301752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5" name="Rounded Rectangle 44">
            <a:extLst xmlns:a="http://schemas.openxmlformats.org/drawingml/2006/main">
              <a:ext uri="{FF2B5EF4-FFF2-40B4-BE49-F238E27FC236}">
                <a16:creationId xmlns:a16="http://schemas.microsoft.com/office/drawing/2014/main" id="{A702330F-850B-4733-B396-2E72CADE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206240"/>
            <a:ext cx="1874519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BDCBD602-3B66-4B6F-96CC-758E61A2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4379976"/>
            <a:ext cx="1581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33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发送与写回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E541CAE1-A7C3-44B6-9B57-E7921280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4736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4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审计 / 记忆 / 排程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016E8239-1692-4291-9FC5-BC50AD57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5559552"/>
            <a:ext cx="3493008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DB977319-EB47-4A98-BACA-D830EA12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5596128"/>
            <a:ext cx="349300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人格 · 状态 · 关系 · 记忆始终共用</a:t>
            </a:r>
          </a:p>
        </p:txBody>
      </p:sp>
      <p:sp>
        <p:nvSpPr>
          <p:cNvPr id="50" name="Connector 49">
            <a:extLst xmlns:a="http://schemas.openxmlformats.org/drawingml/2006/main">
              <a:ext uri="{FF2B5EF4-FFF2-40B4-BE49-F238E27FC236}">
                <a16:creationId xmlns:a16="http://schemas.microsoft.com/office/drawing/2014/main" id="{F2223EDE-E972-409A-81FF-F9636FC8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A8D4A4EB-3602-40C9-8792-3C378357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A4FE1989-5384-43C4-9B87-B20929E2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04 / 14</a:t>
            </a:r>
          </a:p>
        </p:txBody>
      </p:sp>
    </p:spTree>
    <p:extLst>
      <p:ext uri="{BB962C8B-B14F-4D97-AF65-F5344CB8AC3E}">
        <p14:creationId xmlns:p14="http://schemas.microsoft.com/office/powerpoint/2010/main" val="16241614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221DCC-03EE-4A7E-9B54-1A10532B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A DAY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26AB83-BF89-4CCE-BB67-56618154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她的一天不是固定剧本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9BB42FA-72B9-4857-B8EF-5BBBC65E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先有日程框架，临近时段再由细化模型补足地点、活动与可分享碎片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81FB69-0C2D-451C-8A88-B325C9D7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6" name="Connector 5">
            <a:extLst xmlns:a="http://schemas.openxmlformats.org/drawingml/2006/main">
              <a:ext uri="{FF2B5EF4-FFF2-40B4-BE49-F238E27FC236}">
                <a16:creationId xmlns:a16="http://schemas.microsoft.com/office/drawing/2014/main" id="{2C1803AB-79B2-488F-AA6B-1F4360D1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218688"/>
            <a:ext cx="10213848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0EF933D6-D762-462C-B219-48D9DDEC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84EEC7-459F-48C7-9E58-0E5B7162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CBFDADF-1812-4B1C-A5F1-156017D1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27B56B-7247-4767-9739-157C5336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2295144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07:30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823990A-C36B-407A-9CDC-7F32F508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2551176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醒来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4B2D40-9B1A-42DA-AE23-F2A76615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2843784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天气与睡眠余波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FCA92898-B66F-49C7-A4B8-E2927A14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971800"/>
            <a:ext cx="0" cy="23774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5A74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51EB2717-B0CE-4AFD-A7BC-E6952A6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1F7ACD-3B3C-46C8-BBB4-F4EAC2D3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702BCAE-ED6F-4938-BE22-507DDB8C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675887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0E40E25-E412-425D-AFEC-91F13A16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3822191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10:00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E5E33C-E271-46CD-BB44-A62839F5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4078224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工作 / 学习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565755-F1B9-4654-B4C6-5E8B7757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4370831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繁忙时普通回复延后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AEF27668-327B-4C53-8FD9-6F2FFBA0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474720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F4F3AE94-6DFE-47DD-82DB-3A5F91C4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DB515C3-E810-4B1C-BFDD-A333D342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85C92E3D-8DEE-4A4D-9550-8772B621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48840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5B002E9-1FAF-4C4A-86C6-57BE51B8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2936" y="2295144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13:10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D1324C1-6B18-4228-A33A-968B23C9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2936" y="2551176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午后见闻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F8F1180-9FAD-4225-B41E-45A50864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2936" y="2843784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新闻、目标或群聊话题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64ACA4A3-66B7-40DF-815E-EE4DF503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127" y="2971800"/>
            <a:ext cx="0" cy="23774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Oval 27">
            <a:extLst xmlns:a="http://schemas.openxmlformats.org/drawingml/2006/main">
              <a:ext uri="{FF2B5EF4-FFF2-40B4-BE49-F238E27FC236}">
                <a16:creationId xmlns:a16="http://schemas.microsoft.com/office/drawing/2014/main" id="{583E40B9-0D76-49D4-B1F1-4CC6AA92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0A8BE178-74E7-4E74-B05B-1AEA94A7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06004BF9-439D-4434-B3CD-648411B3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675887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E1499C-8531-4087-AB05-A1C2D4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3822191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18:30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19B1A10-D23B-44D6-A50E-DFA15EB4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4078224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回家途中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63D490DA-8E8E-447F-8284-F7A2790A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4370831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位置切换带移动过程</a:t>
            </a:r>
          </a:p>
        </p:txBody>
      </p:sp>
      <p:sp>
        <p:nvSpPr>
          <p:cNvPr id="34" name="Connector 33">
            <a:extLst xmlns:a="http://schemas.openxmlformats.org/drawingml/2006/main">
              <a:ext uri="{FF2B5EF4-FFF2-40B4-BE49-F238E27FC236}">
                <a16:creationId xmlns:a16="http://schemas.microsoft.com/office/drawing/2014/main" id="{DACDABE8-B2FA-4417-9523-88D1C99B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3474720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Oval 34">
            <a:extLst xmlns:a="http://schemas.openxmlformats.org/drawingml/2006/main">
              <a:ext uri="{FF2B5EF4-FFF2-40B4-BE49-F238E27FC236}">
                <a16:creationId xmlns:a16="http://schemas.microsoft.com/office/drawing/2014/main" id="{1CC9E9C6-8292-439C-8DF4-DE30F6C2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9718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01B712DE-A99E-49FB-AE08-2317D654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999232"/>
            <a:ext cx="5029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5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7163653A-7B35-4CD5-A89D-51C73B35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148840"/>
            <a:ext cx="1664208" cy="10607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7A20903-8D37-4A99-B1B6-8BF851C6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2295144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1">
                <a:solidFill>
                  <a:srgbClr val="765B76"/>
                </a:solidFill>
                <a:latin typeface="Noto Sans SC"/>
                <a:ea typeface="Noto Sans SC"/>
                <a:cs typeface="Noto Sans SC"/>
              </a:rPr>
              <a:t>23:40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DE0C26D2-758E-4709-AEEF-94E59B65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2551176"/>
            <a:ext cx="135331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日记与梦境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0875F6A-0645-41A6-A40B-10C405F8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2843784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9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当天经历写回长期体验</a:t>
            </a:r>
          </a:p>
        </p:txBody>
      </p:sp>
      <p:sp>
        <p:nvSpPr>
          <p:cNvPr id="41" name="Connector 40">
            <a:extLst xmlns:a="http://schemas.openxmlformats.org/drawingml/2006/main">
              <a:ext uri="{FF2B5EF4-FFF2-40B4-BE49-F238E27FC236}">
                <a16:creationId xmlns:a16="http://schemas.microsoft.com/office/drawing/2014/main" id="{4054F2D8-9E9D-4DC6-8F02-75B5634B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2971800"/>
            <a:ext cx="0" cy="23774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B7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B670765A-DE43-4C40-87BE-2B71F94B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212080"/>
            <a:ext cx="10378440" cy="62179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F18D980C-00D4-4254-A014-0CFA21FC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58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连续性原则  </a:t>
            </a:r>
            <a:r>
              <a:rPr sz="112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地点变化写出移动过程；用户本轮明确场景优先；睡眠与繁忙闸门默认关闭。</a:t>
            </a:r>
          </a:p>
        </p:txBody>
      </p:sp>
      <p:sp>
        <p:nvSpPr>
          <p:cNvPr id="44" name="Connector 43">
            <a:extLst xmlns:a="http://schemas.openxmlformats.org/drawingml/2006/main">
              <a:ext uri="{FF2B5EF4-FFF2-40B4-BE49-F238E27FC236}">
                <a16:creationId xmlns:a16="http://schemas.microsoft.com/office/drawing/2014/main" id="{D1C1C407-F704-44BB-BF93-9D4CB250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FFFD2384-C6B4-41FF-99A9-ED7CD3DB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94F498C3-6AFC-490C-95A4-316BE6EE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2609773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E3C731-A303-4E8F-82C8-BDC349B3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PROACTIVE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50C38D4-334B-487B-B36D-FC16E57A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主动消息：先有念头，再决定要不要说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1027AB8-BC70-4533-BA72-161B186F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4806C11-3D27-4504-8854-E4823BBB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2768"/>
            <a:ext cx="1920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候选来源</a:t>
            </a: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509CCA5D-C775-401E-A92D-119F9C56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3AB260C-FA1C-4504-9DBD-A27CA325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066543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日程与状态</a:t>
            </a:r>
          </a:p>
        </p:txBody>
      </p:sp>
      <p:sp>
        <p:nvSpPr>
          <p:cNvPr id="8" name="Connector 7">
            <a:extLst xmlns:a="http://schemas.openxmlformats.org/drawingml/2006/main">
              <a:ext uri="{FF2B5EF4-FFF2-40B4-BE49-F238E27FC236}">
                <a16:creationId xmlns:a16="http://schemas.microsoft.com/office/drawing/2014/main" id="{E4A2831E-059E-4EF3-8040-7CBEF5D5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12848"/>
            <a:ext cx="502920" cy="128016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604BE363-0167-4556-833E-4C7C2A13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63347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2EB952A-4726-4E59-AB55-6D92A4DA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42615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天气突变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0BD8BD76-F7FB-458A-96B7-44F31136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502920" cy="70408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6500FFB6-F92D-41C3-817E-07DC418F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09544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A903828-2277-4516-85A1-F909FE5A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218687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新闻与搜索</a:t>
            </a: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E3952BF0-E2D3-4881-B25A-53FC17AF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64991"/>
            <a:ext cx="502920" cy="128017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23CD9007-90DF-426F-977C-234BD657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85616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B89F911-9FF7-4E72-884E-652CE0F5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94760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关系与话题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57B7DA2F-FD50-4B52-93DD-10161766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43200" y="3493008"/>
            <a:ext cx="502920" cy="448056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2CCCF852-3F60-400D-9451-3BD3C41A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361688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E21C7A4-24A7-4436-9D0D-FE98C3C4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370831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梦境与创作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6FBA45A6-004D-415C-AD50-8E8581DB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43200" y="3493008"/>
            <a:ext cx="502920" cy="102412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471F30A6-810E-4203-8874-4AD98022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93776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CB9A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E208FB8-37D1-4202-9E4E-26E3882F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946904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2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便签与约定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87CAC734-D533-4727-8801-781A5B61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43200" y="3493008"/>
            <a:ext cx="502920" cy="16002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4EA0450-1542-44D2-9373-16A3A78E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572768"/>
            <a:ext cx="4937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候选生命周期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2587E84A-F2E5-47FB-BF5A-C329F6A9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468" y="2084831"/>
            <a:ext cx="4535424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259E388-4685-4C7A-9D03-C3E51D7E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468" y="2116836"/>
            <a:ext cx="453542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时间窗与价值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FBF88D4-AFD4-4E1D-88D0-B9D12808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3652" y="2743200"/>
            <a:ext cx="3877056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D8E8405-39F2-41B6-9F3F-796C2B23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3652" y="2775204"/>
            <a:ext cx="38770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关系与回应边界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098206F5-1229-4736-A860-EC63109B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36" y="3401568"/>
            <a:ext cx="3218688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339FE2D9-BBD2-44C6-9EDF-1052FA91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36" y="3433572"/>
            <a:ext cx="321868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免打扰 / 休息 / 繁忙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205C0872-0B0E-4084-B038-264A8803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2020" y="4059935"/>
            <a:ext cx="2560320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E2BBF68-AECE-4512-88DC-A3F8AAC1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2020" y="4091939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人格判断与动作选择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A62B1FB4-BE81-4534-85B0-D4ACACDF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204" y="4718304"/>
            <a:ext cx="1901952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4FC0B50-BDA3-4ECE-B2C8-D23C381E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204" y="4750308"/>
            <a:ext cx="190195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发送前复核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3D0381B-5369-42B5-A291-ED9FD3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572768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真实动作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C33E0E71-3E76-434E-BADC-D269F712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103120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Oval 36">
            <a:extLst xmlns:a="http://schemas.openxmlformats.org/drawingml/2006/main">
              <a:ext uri="{FF2B5EF4-FFF2-40B4-BE49-F238E27FC236}">
                <a16:creationId xmlns:a16="http://schemas.microsoft.com/office/drawing/2014/main" id="{8A474DEB-A8D6-46DB-B246-E8CD8125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1762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08062071-601C-4D76-BEA7-8E8071CE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185415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TX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56A04AC7-8F9F-49BC-A3AD-E87035EA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212848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文字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77E20070-41EE-462E-8E86-342E782D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779776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Oval 40">
            <a:extLst xmlns:a="http://schemas.openxmlformats.org/drawingml/2006/main">
              <a:ext uri="{FF2B5EF4-FFF2-40B4-BE49-F238E27FC236}">
                <a16:creationId xmlns:a16="http://schemas.microsoft.com/office/drawing/2014/main" id="{EE1172D2-EE01-476A-9029-C681C15F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85292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6F75AE50-3820-481B-8EE6-ED68DBEF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862072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IM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3C2902AE-8DDC-404D-B749-2AE8DA73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889504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图片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0AAA6BE2-7098-431E-9F23-9A48329A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456432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Oval 44">
            <a:extLst xmlns:a="http://schemas.openxmlformats.org/drawingml/2006/main">
              <a:ext uri="{FF2B5EF4-FFF2-40B4-BE49-F238E27FC236}">
                <a16:creationId xmlns:a16="http://schemas.microsoft.com/office/drawing/2014/main" id="{4FBF7D87-6863-4690-8DBE-38BD8230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352958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E0BA89E7-93C4-43DF-862C-A5B49FF3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3538727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VO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E23849A6-52D9-40C6-8787-973F2AC2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56616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语音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32AF062D-4649-49E5-BF2B-3C8DA6CB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133087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Oval 48">
            <a:extLst xmlns:a="http://schemas.openxmlformats.org/drawingml/2006/main">
              <a:ext uri="{FF2B5EF4-FFF2-40B4-BE49-F238E27FC236}">
                <a16:creationId xmlns:a16="http://schemas.microsoft.com/office/drawing/2014/main" id="{D66C2222-2650-4779-9C5C-E3D7B1C2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2062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A9A47D5E-4028-4044-B3E9-39C7787C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215383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PK</a:t>
            </a: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6BF53315-AFE7-4DF6-941A-18BC15C6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242816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戳一戳</a:t>
            </a:r>
          </a:p>
        </p:txBody>
      </p:sp>
      <p:sp>
        <p:nvSpPr>
          <p:cNvPr id="52" name="Rounded Rectangle 51">
            <a:extLst xmlns:a="http://schemas.openxmlformats.org/drawingml/2006/main">
              <a:ext uri="{FF2B5EF4-FFF2-40B4-BE49-F238E27FC236}">
                <a16:creationId xmlns:a16="http://schemas.microsoft.com/office/drawing/2014/main" id="{5BB68119-723B-4D3D-8C6A-690F15C2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809744"/>
            <a:ext cx="2377440" cy="53035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3" name="Oval 52">
            <a:extLst xmlns:a="http://schemas.openxmlformats.org/drawingml/2006/main">
              <a:ext uri="{FF2B5EF4-FFF2-40B4-BE49-F238E27FC236}">
                <a16:creationId xmlns:a16="http://schemas.microsoft.com/office/drawing/2014/main" id="{92479E5B-2BF6-477A-B55C-C61B597C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88289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7F8CA07C-7452-4C92-AA0D-CA2DCD22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4892040"/>
            <a:ext cx="365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EX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F33567F7-9B92-4BFB-A414-1E13D0CA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919472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3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外部能力</a:t>
            </a:r>
          </a:p>
        </p:txBody>
      </p:sp>
      <p:sp>
        <p:nvSpPr>
          <p:cNvPr id="56" name="Rounded Rectangle 55">
            <a:extLst xmlns:a="http://schemas.openxmlformats.org/drawingml/2006/main">
              <a:ext uri="{FF2B5EF4-FFF2-40B4-BE49-F238E27FC236}">
                <a16:creationId xmlns:a16="http://schemas.microsoft.com/office/drawing/2014/main" id="{2291FF43-6758-4F02-BBB9-9E3DD5A8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87568"/>
            <a:ext cx="10515600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CA70C0E6-DA6E-486B-A73F-2FBDDB77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751576"/>
            <a:ext cx="10149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3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面板会记录来源、状态、拦截原因和发送诊断：没发，也应该解释得清楚。</a:t>
            </a:r>
          </a:p>
        </p:txBody>
      </p:sp>
      <p:sp>
        <p:nvSpPr>
          <p:cNvPr id="58" name="Connector 57">
            <a:extLst xmlns:a="http://schemas.openxmlformats.org/drawingml/2006/main">
              <a:ext uri="{FF2B5EF4-FFF2-40B4-BE49-F238E27FC236}">
                <a16:creationId xmlns:a16="http://schemas.microsoft.com/office/drawing/2014/main" id="{042697FC-23D1-41BE-938B-37543FB3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78CCF5F4-682B-4697-B637-7EB04ED0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C619DD12-7A64-4372-9470-69703E6B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7983878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85F0AD-1D52-422F-9C3D-4F6C0F14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RELATIONSHIP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137D56-7C08-49BF-B614-30D705F0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认识不同的人，也看得懂群聊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A5570BD-8D1C-4CAA-92F8-FA49C107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关系事实、表达风格与群聊观察分别维护，减少串人和越界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5BB1F3-5F58-446C-BE87-E9F1E154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170974-B4B0-4C49-B9D4-455D3EB4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834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私聊关系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F2228BC-13B1-4AD2-9497-8725BECF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2157984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AD98A0E-AD15-407C-86F6-D63DCB41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84831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EB8C6107-B099-4A56-8123-73921562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0863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CD1D2D-EA6A-4117-9156-CADA2A20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50007"/>
            <a:ext cx="4754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D5D8EE8-339A-4DEA-851C-B213C47F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313432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主要用户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4DD072E-3013-43DE-A4A1-7505B751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89503"/>
            <a:ext cx="1938528" cy="8869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1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核心陪伴对象，同时视为插件管理员。可使用主要用户专属关系、书柜夹层、识屏与跨群转述。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1E684AA-FBD2-426E-9077-D6D546B0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57984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0284FBE-82AE-4408-A388-0D8F3A43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2084831"/>
            <a:ext cx="2487168" cy="1874519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2C2B2CBB-56B9-4E7B-941D-FF396E12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40863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A3FE3A1-E395-4032-9205-1595185E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50007"/>
            <a:ext cx="4754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838AD42-D7A3-46CF-8449-5CB9AFCF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2313432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次要用户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EF14DD2-012A-4E82-AFE8-0471DB5F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889503"/>
            <a:ext cx="1938528" cy="8869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1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保持普通朋友边界；不会继承主要用户称呼，也不会读取主要用户专属隐私。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9260392-96F6-471B-84C2-1B92FF3A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5193792" cy="117043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C5B18DE-6F69-46A7-80F2-E306532C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2272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身份判断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B86925B-86C3-413E-91D5-D04A39FB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4526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稳定平台 ID 优先；昵称、群名片、别名和自称只作辅助。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9600E41-BD1A-40CA-ADFC-DFE9E0D8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64208"/>
            <a:ext cx="2834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群聊四层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1717925-7855-4B23-9E1C-402FA4B6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84831"/>
            <a:ext cx="4983480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8C2D23DA-C085-4C5C-A812-AA6F4C4D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21945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6B46761-1CCA-4D92-B454-99975D4E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2203703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A802E82-5E93-45CB-9749-8E27E937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194560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观察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2FD91C6-AFA1-4FCC-9A00-720B5457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203703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允许群内的文本与多媒体占位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4586F3C7-F37B-4E23-9974-A4C31144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80944"/>
            <a:ext cx="4764024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534D5541-4F87-475C-B955-2916F995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3090672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0A2E522-1E09-46F8-B673-4623A5ED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3099815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6424440-CF01-4528-9235-FF1FA5F2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09067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理解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0B7C818-CC93-40AA-A9A9-1742F6AE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099815"/>
            <a:ext cx="25328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气氛、群友、黑话、话题与关系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DBE6D51D-A357-4634-8BB1-53DA200F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3877056"/>
            <a:ext cx="4544568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Oval 33">
            <a:extLst xmlns:a="http://schemas.openxmlformats.org/drawingml/2006/main">
              <a:ext uri="{FF2B5EF4-FFF2-40B4-BE49-F238E27FC236}">
                <a16:creationId xmlns:a16="http://schemas.microsoft.com/office/drawing/2014/main" id="{F7D96FBA-E43B-4F56-955F-2A464D0E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3986784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51E7560E-A028-4A31-AE37-C9416883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3995928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5CC63BF5-468F-4C73-B80E-E509D94A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88" y="3986784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唤醒 / 续接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953C25C-16AC-4407-A841-C95081ED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995928"/>
            <a:ext cx="236829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识别是否在对 Bot 说话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0D32D9B0-29F7-42BC-B476-1236AF14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773168"/>
            <a:ext cx="4325112" cy="6949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Oval 38">
            <a:extLst xmlns:a="http://schemas.openxmlformats.org/drawingml/2006/main">
              <a:ext uri="{FF2B5EF4-FFF2-40B4-BE49-F238E27FC236}">
                <a16:creationId xmlns:a16="http://schemas.microsoft.com/office/drawing/2014/main" id="{A2687EC8-D55A-45AA-AF82-82BB5C4F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488289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00250635-D69F-4ED2-9099-C1BED7E7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4892040"/>
            <a:ext cx="438912" cy="4206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4457BC5E-03A6-4BCE-8FF5-D0A0E308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4882896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主动插话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76B7B628-513D-4638-B3A5-5EBDBFE6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892040"/>
            <a:ext cx="22037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按场景、概率、冷却与关系选择</a:t>
            </a:r>
          </a:p>
        </p:txBody>
      </p:sp>
      <p:sp>
        <p:nvSpPr>
          <p:cNvPr id="43" name="Connector 42">
            <a:extLst xmlns:a="http://schemas.openxmlformats.org/drawingml/2006/main">
              <a:ext uri="{FF2B5EF4-FFF2-40B4-BE49-F238E27FC236}">
                <a16:creationId xmlns:a16="http://schemas.microsoft.com/office/drawing/2014/main" id="{4A0B5B87-3B3C-4BA6-B535-5EC6AA74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225E3384-84FF-4E3E-8E5D-EFEBBEA7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E9181243-CCE8-492F-AACB-FC3E85F7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10884461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D1B282-2876-4825-8CED-806D1F1B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EXPERIENCE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F7348D-91AC-4DCD-8AFC-9A2C9373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她会看、会说、会创作，也会记事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C964A9-0F11-4F71-A738-AC6A01F4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多模态和内容能力服务于同一段长期体验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38EF908-54B2-4D29-A3C7-6AB826D1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73D6956-F052-4623-8DF3-FD25B0FF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56231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92346DE-C2D7-4153-ACB7-0012991B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A22095-AF6D-4ED8-8F0C-51B2DFC5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DD3FD903-FB2E-45C2-93CB-204FB8DA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207568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2996A0-DC39-4F32-A1CA-A74D0AFF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2084831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VIS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25727C-8270-4161-94E2-D03314A8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2057400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图片理解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D33D27-0C39-4333-942B-5E981938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2560320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私聊、引用图、GIF、转发图
记录画面与图片归属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353BDE1-5316-4720-9A4C-619E9C22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1856231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39FCF67-9E66-423D-9830-28105603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178308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2D2B324-1FD8-4290-8658-49543EF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1783080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2F4D6FA2-C6AA-414A-9C41-42F53F03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207568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8DD0DF9-322E-4AE0-8C3D-8358E533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2084831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IMG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901012D-FD14-417F-A193-236B4394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2057400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参考图生图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97CB62A-E9C1-4019-9E26-E21E2DDC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2560320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自拍、穿搭、改图、封面
当前请求优先于旧穿搭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1D97E6A-51BD-47C1-AF84-10A519AA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1856231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A543494-A1DF-4C38-964D-F90F6255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8308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910BD8C-F366-474F-BCE1-B9F34141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83080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9A913753-AAB7-481A-A9CB-8290D7F0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075688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EE8A85E-51EC-409F-9BB9-C6EF4F62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084831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TTS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038DDDC-4499-4D88-B098-3B03E69E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057400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语音编排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6C501DA-0979-4518-9030-CB3748D2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560320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语音替代或同时发文字
外语原文或中文释义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E798398-4363-46CA-9F32-E94FA662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88620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4D787181-316B-43DF-8826-1535C532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13048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AB1E7A4-A2F4-4335-8735-A510647C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13048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Oval 29">
            <a:extLst xmlns:a="http://schemas.openxmlformats.org/drawingml/2006/main">
              <a:ext uri="{FF2B5EF4-FFF2-40B4-BE49-F238E27FC236}">
                <a16:creationId xmlns:a16="http://schemas.microsoft.com/office/drawing/2014/main" id="{4D93D5E2-8BB0-47DB-AF43-5DCEBEE8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410565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7F4DC51-648D-42B5-8BD1-E431AA71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4114800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LIB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188D1069-494D-40CB-A09F-70E6F7CE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4087368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书柜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350799B-2490-476D-A1A7-1D4882DB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072" y="4590288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作品、日记、私密阅读
封面、批注与阅读状态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96624496-56CB-442E-A343-6E9BDC5F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388620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080F9542-E39B-4943-9F31-89450C05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3813048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D4FED33-CF97-4F72-A108-6A80DBF4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3813048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Oval 36">
            <a:extLst xmlns:a="http://schemas.openxmlformats.org/drawingml/2006/main">
              <a:ext uri="{FF2B5EF4-FFF2-40B4-BE49-F238E27FC236}">
                <a16:creationId xmlns:a16="http://schemas.microsoft.com/office/drawing/2014/main" id="{A07AB095-8B4C-4613-A784-D060C775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410565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5A77CEBD-78FD-47F8-9D99-B8D8BA13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599" y="4114800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MEM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6154A079-209D-46A0-A421-D2457B5E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4087368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备忘便签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CB3FF691-5F57-4996-8254-006712D6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4590288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完成、置顶、到期提醒
支持重复周期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E07AF33F-6001-4853-AB23-B2DB3B22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886200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2A6D4A8B-7D82-4513-9D2B-990BCF43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813048"/>
            <a:ext cx="3493008" cy="166420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1344917C-84A5-452E-8287-84A36C73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813048"/>
            <a:ext cx="146304" cy="1664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Oval 43">
            <a:extLst xmlns:a="http://schemas.openxmlformats.org/drawingml/2006/main">
              <a:ext uri="{FF2B5EF4-FFF2-40B4-BE49-F238E27FC236}">
                <a16:creationId xmlns:a16="http://schemas.microsoft.com/office/drawing/2014/main" id="{049818F0-A046-438C-9E26-AB1978B9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4105656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49E01DF6-D541-4C87-8DF6-AB538C73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4114800"/>
            <a:ext cx="56692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CRT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A857D6FE-9E56-4DB2-B8DE-3FCE6079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087368"/>
            <a:ext cx="2084831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梦境与创作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F3EB5464-B632-4581-BB62-FFBD53E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590288"/>
            <a:ext cx="2084831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0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参考当天状态与经历
维护大纲、角色和审校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A6924A58-5D4D-4DE0-ABD5-2063D1BC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88" y="5925312"/>
            <a:ext cx="7589520" cy="36576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6892A876-B77F-426B-A1AE-D966ED47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88" y="5961888"/>
            <a:ext cx="758952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7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高成本与强侵入能力默认可选，缺失时局部降级，不阻塞普通聊天。</a:t>
            </a:r>
          </a:p>
        </p:txBody>
      </p:sp>
      <p:sp>
        <p:nvSpPr>
          <p:cNvPr id="50" name="Connector 49">
            <a:extLst xmlns:a="http://schemas.openxmlformats.org/drawingml/2006/main">
              <a:ext uri="{FF2B5EF4-FFF2-40B4-BE49-F238E27FC236}">
                <a16:creationId xmlns:a16="http://schemas.microsoft.com/office/drawing/2014/main" id="{8E9EDC2F-BE8B-4CA7-B283-350A3D26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58662396-6B9A-436C-9A8E-F802CF45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D1C4CBC4-286D-4C13-B083-FEC41E66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3944089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2B4CFE3-FBB7-462F-B02E-6AF3C6F2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CONTROL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E61681-1445-4C7F-BA2E-70F8974C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14 个页面，把复杂能力变得可观察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8D6FC8-D3B2-482A-B80F-AF4F5599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不是只给开关：状态、来源、拦截、成本和故障都能追踪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F4F29C-BCC2-4D47-B17D-D77B53BF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DFD1326-3DB9-46B8-8F52-41D35F8C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10927080" cy="45537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8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CA0C531-E503-4D86-A418-EB47FEEE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1092708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10EC65E3-0211-48A2-9063-5F17368E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74650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ACC7F552-914B-46A7-9708-43221162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74650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2222C10-0178-4908-BF5B-DB81C6B0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174650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E20332F-7742-4EFB-AE57-D8970D5A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700784"/>
            <a:ext cx="1828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50" b="1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陪伴面板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289216-3652-467F-9258-3FA3C1F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39112"/>
            <a:ext cx="1883664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A23130F-05B6-4F38-BAFA-D4B726F1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1481328" cy="2468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47758E4-1BD5-4E4B-AAAC-CE72792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26771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总览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1B800FD-4A40-4D22-8057-1ADA1F07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551176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私聊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3764976-8A0E-45F4-A532-E89566AF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83464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群聊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6C04FE2-6170-46D7-984A-8BC7797D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118104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学习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F84D3E3-7430-415D-897F-751629B4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401568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观察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F9D715F-55F8-496F-A535-3F0C0128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68503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主动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CAA4B27-4C40-446F-8C08-76B27F15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968496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书柜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32846B1-41B6-4DD1-B961-5B8D6A54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25196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Token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7AB5B7F-4C19-48BD-9D99-9B8FF493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535424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排障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2F1D25F-9A4A-4CBE-9091-8146DFA4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818888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配置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DE1E72F-3BF0-443A-A5DD-B9392EC5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10235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模型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0C929B4-E77E-4D9B-9876-EE7C56DC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385816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实验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37868891-36D2-4657-A460-C957B7B0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258568"/>
            <a:ext cx="713232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BB19583-0B01-4766-A219-95B2BC32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263140"/>
            <a:ext cx="713232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TODAY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07371A9F-0F5C-4925-BF15-B43299E8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651760"/>
            <a:ext cx="3474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今天过得怎么样？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A6ED19A3-5BD3-4B55-8863-1B211917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099816"/>
            <a:ext cx="4754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精力平稳 · 情绪温柔 · 当前正在整理一天的见闻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EF1C185E-A17B-43F2-B267-EBCDC910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611880"/>
            <a:ext cx="1755648" cy="9326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260CF04-2690-47DE-8C10-EABD49A6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776472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当前活动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891F7C4E-3793-4139-83B2-3D8C2776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08736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2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写完一段日记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033E2FA-01D9-403F-A34B-4AF138E2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3611880"/>
            <a:ext cx="1755648" cy="9326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06EA026-4FC5-476D-B006-86D96456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336" y="3776472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主动候选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8F4E3685-23FD-46B7-AD41-9A7DCDD4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336" y="408736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2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3 条等待时机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D1339843-776A-4D60-97ED-8A3433D0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3611880"/>
            <a:ext cx="1755648" cy="9326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E6EDE4F-FD5E-446A-B4E0-8723E079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3776472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5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Token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BE1BE45-8AC5-4649-957B-76DEDA9F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408736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2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今日 42.8k</a:t>
            </a:r>
          </a:p>
        </p:txBody>
      </p:sp>
      <p:sp>
        <p:nvSpPr>
          <p:cNvPr id="39" name="Rounded Rectangle 38">
            <a:extLst xmlns:a="http://schemas.openxmlformats.org/drawingml/2006/main">
              <a:ext uri="{FF2B5EF4-FFF2-40B4-BE49-F238E27FC236}">
                <a16:creationId xmlns:a16="http://schemas.microsoft.com/office/drawing/2014/main" id="{E16124C1-F032-45E9-A63B-A1FDA27F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267712"/>
            <a:ext cx="2212848" cy="227685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75953561-0FFA-4CD1-B004-F47E9004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2542032"/>
            <a:ext cx="1691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运行状态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9969F71A-288F-4920-846C-3676527F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2999232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主动调度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2979A48F-D1BB-4489-A5EC-4989AC4C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999232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正常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AA68C707-3340-4BB4-8576-39F0D52C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3355848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群聊观察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03A25C1D-CCE2-4202-85E5-C6A8F021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355848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4 个群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5277B7E9-6AAD-44F5-957E-6C258CDD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3712463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视觉缓存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8C1077A0-DDFE-41D5-A241-A2372EC0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712463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命中 78%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31E4EE20-4C3E-4658-8786-D8D20FA3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4069079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配置保存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A9BCDD5B-85F4-4F92-A62C-D107DEA5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069079"/>
            <a:ext cx="7863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6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已同步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EE27DF2F-0245-4B91-86EA-86E62EF3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928616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5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今日日程</a:t>
            </a:r>
          </a:p>
        </p:txBody>
      </p:sp>
      <p:sp>
        <p:nvSpPr>
          <p:cNvPr id="50" name="Connector 49">
            <a:extLst xmlns:a="http://schemas.openxmlformats.org/drawingml/2006/main">
              <a:ext uri="{FF2B5EF4-FFF2-40B4-BE49-F238E27FC236}">
                <a16:creationId xmlns:a16="http://schemas.microsoft.com/office/drawing/2014/main" id="{6CF20BA9-98C8-4091-848C-E9E5B72F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5513832"/>
            <a:ext cx="8065008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1" name="Oval 50">
            <a:extLst xmlns:a="http://schemas.openxmlformats.org/drawingml/2006/main">
              <a:ext uri="{FF2B5EF4-FFF2-40B4-BE49-F238E27FC236}">
                <a16:creationId xmlns:a16="http://schemas.microsoft.com/office/drawing/2014/main" id="{4E258F59-9AD0-4F03-97F8-7C1558FB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CAB972E-E059-47D5-8BF3-926C30F5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488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08:00</a:t>
            </a:r>
          </a:p>
        </p:txBody>
      </p:sp>
      <p:sp>
        <p:nvSpPr>
          <p:cNvPr id="53" name="Oval 52">
            <a:extLst xmlns:a="http://schemas.openxmlformats.org/drawingml/2006/main">
              <a:ext uri="{FF2B5EF4-FFF2-40B4-BE49-F238E27FC236}">
                <a16:creationId xmlns:a16="http://schemas.microsoft.com/office/drawing/2014/main" id="{B139219D-48A1-45E7-B9BF-37BC2B4F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25BBEC9D-C741-427E-84F9-4C8A1AD9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12:30</a:t>
            </a:r>
          </a:p>
        </p:txBody>
      </p:sp>
      <p:sp>
        <p:nvSpPr>
          <p:cNvPr id="55" name="Oval 54">
            <a:extLst xmlns:a="http://schemas.openxmlformats.org/drawingml/2006/main">
              <a:ext uri="{FF2B5EF4-FFF2-40B4-BE49-F238E27FC236}">
                <a16:creationId xmlns:a16="http://schemas.microsoft.com/office/drawing/2014/main" id="{5A9F0644-3B25-4825-9342-257D171B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A59F9F4D-AEFB-49C8-812C-CDADFDA9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18:40</a:t>
            </a:r>
          </a:p>
        </p:txBody>
      </p:sp>
      <p:sp>
        <p:nvSpPr>
          <p:cNvPr id="57" name="Oval 56">
            <a:extLst xmlns:a="http://schemas.openxmlformats.org/drawingml/2006/main">
              <a:ext uri="{FF2B5EF4-FFF2-40B4-BE49-F238E27FC236}">
                <a16:creationId xmlns:a16="http://schemas.microsoft.com/office/drawing/2014/main" id="{0A641A46-2320-4692-AF06-4135720D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59" y="5358384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497622D8-D735-4068-BD14-90AEC38B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967" y="5696712"/>
            <a:ext cx="658368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23:20</a:t>
            </a:r>
          </a:p>
        </p:txBody>
      </p:sp>
      <p:sp>
        <p:nvSpPr>
          <p:cNvPr id="59" name="Connector 58">
            <a:extLst xmlns:a="http://schemas.openxmlformats.org/drawingml/2006/main">
              <a:ext uri="{FF2B5EF4-FFF2-40B4-BE49-F238E27FC236}">
                <a16:creationId xmlns:a16="http://schemas.microsoft.com/office/drawing/2014/main" id="{CF25115D-907C-482A-A29D-C9269E08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E2CA4D76-0D7D-40FE-A143-6545F18D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59C6EB28-4ACB-429F-ACEF-D1DC68DE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7155541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DFDD12-4B44-439B-B50F-2C49BBA4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MODELS &amp; COST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BE72C1-32B9-49DF-8144-5683FC9B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模型分流、峰时替换与 Token 边界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F87105-93F2-4B45-B7E5-53E7A902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先快速配置，再按任务精确路由；高成本后台任务可以主动降载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4A1EE6-5B63-4898-BB42-B5F5F58C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54BDFF3-7EA9-48DE-A956-20CBAE48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快速配置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C37E334-6639-4849-9DC0-BBC54CFA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57400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B0929B7-7C1E-47AC-8BC7-3D86FB8A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21992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0143A7-1291-4A44-8D9A-FA00914F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26564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FAST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7F0BB5-A848-440C-90BB-DF2802E6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2176272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快速模型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4DE28E8-FFB4-474E-84C8-2EDA32C7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185416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轻量判断 / TTS / 复核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FE906CF-0294-412C-995A-31C793A0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98648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CC3F0A5-C9CC-4513-8FAD-6E08E826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063240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C540589-7F50-40B6-A396-865038A4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067812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REASON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8F2ACC5-632D-4B34-B5C5-67D2B702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3017520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复杂模型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9CF14DB-7033-42F8-B2D1-DDEDB7C0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3026664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日程 / 关系 / 记忆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B97670A-E300-4007-B057-E5BA889C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9896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A4041CA-0949-4619-B338-52F2F8E0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904487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48AA35C-3637-4BCE-9E08-68B3F2E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909059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CREATE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DCD92C-3D9B-4B15-92A9-6FD57EF0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3858768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创作模型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3C46A7B-E170-4FBB-B4E6-F74D14FC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3867911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梦境 / 日记 / 正文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D029AF4-BD8E-4ECE-9096-82234450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81144"/>
            <a:ext cx="3858768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2A35785A-499E-4F8E-A26A-C44600B5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745736"/>
            <a:ext cx="749808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16B25BB-AB6E-4A15-9151-489CE19C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750307"/>
            <a:ext cx="7498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8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VISION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9CA99E2-B113-4D83-903E-8BAE82D9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4700016"/>
            <a:ext cx="11155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8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视觉模型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43833EB-32C6-472E-ADA1-F3D9ECC6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4709159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3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图片 / 转发 / 私密阅读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EA5717C-72A7-41D7-AE9E-5C978AE8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6642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运行时路由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64DA98B-56FB-4FCB-ADF9-F5A0BDFB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057400"/>
            <a:ext cx="2889504" cy="205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E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C86E862A-387A-4DA2-B324-72908926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359151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5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4C0A982-FCAB-4046-89E9-B463A0C2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331720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任务</a:t>
            </a:r>
          </a:p>
        </p:txBody>
      </p:sp>
      <p:sp>
        <p:nvSpPr>
          <p:cNvPr id="31" name="Connector 30">
            <a:extLst xmlns:a="http://schemas.openxmlformats.org/drawingml/2006/main">
              <a:ext uri="{FF2B5EF4-FFF2-40B4-BE49-F238E27FC236}">
                <a16:creationId xmlns:a16="http://schemas.microsoft.com/office/drawing/2014/main" id="{C443BE10-2976-49E0-A956-8C651228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384" y="2578608"/>
            <a:ext cx="0" cy="14630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2" name="Oval 31">
            <a:extLst xmlns:a="http://schemas.openxmlformats.org/drawingml/2006/main">
              <a:ext uri="{FF2B5EF4-FFF2-40B4-BE49-F238E27FC236}">
                <a16:creationId xmlns:a16="http://schemas.microsoft.com/office/drawing/2014/main" id="{DA7ABCE4-79AF-45F7-B1DC-C12EBEE5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752344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CCEEC70-DF87-4BA9-A75D-FC50C672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724912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0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单项模型</a:t>
            </a:r>
          </a:p>
        </p:txBody>
      </p:sp>
      <p:sp>
        <p:nvSpPr>
          <p:cNvPr id="34" name="Connector 33">
            <a:extLst xmlns:a="http://schemas.openxmlformats.org/drawingml/2006/main">
              <a:ext uri="{FF2B5EF4-FFF2-40B4-BE49-F238E27FC236}">
                <a16:creationId xmlns:a16="http://schemas.microsoft.com/office/drawing/2014/main" id="{0C96D203-01F2-4FCF-8382-618072B0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384" y="2971800"/>
            <a:ext cx="0" cy="14630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Oval 34">
            <a:extLst xmlns:a="http://schemas.openxmlformats.org/drawingml/2006/main">
              <a:ext uri="{FF2B5EF4-FFF2-40B4-BE49-F238E27FC236}">
                <a16:creationId xmlns:a16="http://schemas.microsoft.com/office/drawing/2014/main" id="{4C605604-7227-47A4-8188-36760317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3145535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AEBDBC6B-DD28-40AA-8937-15CF2AA4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118103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0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基础模型</a:t>
            </a:r>
          </a:p>
        </p:txBody>
      </p:sp>
      <p:sp>
        <p:nvSpPr>
          <p:cNvPr id="37" name="Connector 36">
            <a:extLst xmlns:a="http://schemas.openxmlformats.org/drawingml/2006/main">
              <a:ext uri="{FF2B5EF4-FFF2-40B4-BE49-F238E27FC236}">
                <a16:creationId xmlns:a16="http://schemas.microsoft.com/office/drawing/2014/main" id="{6224D5A6-625A-44AA-B448-0C63BA2F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384" y="3364991"/>
            <a:ext cx="0" cy="14630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Oval 37">
            <a:extLst xmlns:a="http://schemas.openxmlformats.org/drawingml/2006/main">
              <a:ext uri="{FF2B5EF4-FFF2-40B4-BE49-F238E27FC236}">
                <a16:creationId xmlns:a16="http://schemas.microsoft.com/office/drawing/2014/main" id="{3F65170B-144E-4F09-94A2-E2C09DA9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3538727"/>
            <a:ext cx="219456" cy="2194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37ED31C4-CA34-413E-A4DC-44D57C7A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511296"/>
            <a:ext cx="1664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4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AstrBot 默认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1A7103E6-1114-4036-B8AC-60BB9420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4343400"/>
            <a:ext cx="2889504" cy="115214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ECD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00E56B8E-92E7-4A79-BA03-71D24DE1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590288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2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DeepSeek 峰时替换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E261FF93-DC75-45A1-B30C-5B0DE1EA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919472"/>
            <a:ext cx="237744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6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只改运行时选模
不改原 Provider 配置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AE90EA84-EDE2-499D-B776-F4F27558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66420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成本与保护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B68338EC-7C27-4B09-8D54-C9D820E1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14884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软限额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EA8124BF-DEB6-480D-AFDB-EC6BA91D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148840"/>
            <a:ext cx="1965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暂缓低优先级后台任务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3399133E-9505-4AA7-8BFD-21598A35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32888"/>
            <a:ext cx="2880360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18A536C4-73F1-4A74-A6E8-66AE8F02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32888"/>
            <a:ext cx="1929841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E60E5395-C391-4677-9FCD-4824B4E1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0040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硬限额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406B9AC4-37D4-4CA6-BD60-43C141C0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1965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停止新增插件内部 LLM 任务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E4604CDD-2C39-484F-959E-C8AF3156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84448"/>
            <a:ext cx="2880360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Rounded Rectangle 50">
            <a:extLst xmlns:a="http://schemas.openxmlformats.org/drawingml/2006/main">
              <a:ext uri="{FF2B5EF4-FFF2-40B4-BE49-F238E27FC236}">
                <a16:creationId xmlns:a16="http://schemas.microsoft.com/office/drawing/2014/main" id="{290FB53F-F932-43E5-A886-6FEF1A7A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84448"/>
            <a:ext cx="2534716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28CF7B70-ABFC-46B7-8616-232931C4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5196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1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缓存命中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C8EF2BC7-B19A-40E4-ABA4-DA213BC6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251960"/>
            <a:ext cx="1965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减少重复图片与上下文调用</a:t>
            </a:r>
          </a:p>
        </p:txBody>
      </p:sp>
      <p:sp>
        <p:nvSpPr>
          <p:cNvPr id="54" name="Rounded Rectangle 53">
            <a:extLst xmlns:a="http://schemas.openxmlformats.org/drawingml/2006/main">
              <a:ext uri="{FF2B5EF4-FFF2-40B4-BE49-F238E27FC236}">
                <a16:creationId xmlns:a16="http://schemas.microsoft.com/office/drawing/2014/main" id="{DADB6270-3232-4B5F-B15D-688E7451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36008"/>
            <a:ext cx="2880360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8E0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5" name="Rounded Rectangle 54">
            <a:extLst xmlns:a="http://schemas.openxmlformats.org/drawingml/2006/main">
              <a:ext uri="{FF2B5EF4-FFF2-40B4-BE49-F238E27FC236}">
                <a16:creationId xmlns:a16="http://schemas.microsoft.com/office/drawing/2014/main" id="{229ADB4F-23C6-4964-A463-0305B0CB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36008"/>
            <a:ext cx="2189073" cy="14630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6" name="Rounded Rectangle 55">
            <a:extLst xmlns:a="http://schemas.openxmlformats.org/drawingml/2006/main">
              <a:ext uri="{FF2B5EF4-FFF2-40B4-BE49-F238E27FC236}">
                <a16:creationId xmlns:a16="http://schemas.microsoft.com/office/drawing/2014/main" id="{BF138DB9-DCCE-486E-B3BF-1D32603D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76672"/>
            <a:ext cx="2880360" cy="5029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EDF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EB47AF6-F1DA-4AF6-BCC0-33A49459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86400"/>
            <a:ext cx="26060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1">
                <a:solidFill>
                  <a:srgbClr val="557F9C"/>
                </a:solidFill>
                <a:latin typeface="Noto Sans SC"/>
                <a:ea typeface="Noto Sans SC"/>
                <a:cs typeface="Noto Sans SC"/>
              </a:rPr>
              <a:t>Token 页按任务、Provider 与外部插件拆分</a:t>
            </a:r>
          </a:p>
        </p:txBody>
      </p:sp>
      <p:sp>
        <p:nvSpPr>
          <p:cNvPr id="58" name="Connector 57">
            <a:extLst xmlns:a="http://schemas.openxmlformats.org/drawingml/2006/main">
              <a:ext uri="{FF2B5EF4-FFF2-40B4-BE49-F238E27FC236}">
                <a16:creationId xmlns:a16="http://schemas.microsoft.com/office/drawing/2014/main" id="{53DE1AE3-FFCC-4A29-9DBD-D6E72063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7F0412B9-F549-49B7-A799-B7A28C91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91B00518-8468-4296-BCC7-3DDD69B5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10592613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25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20944D-2F8A-4952-8FF6-2BDE7F50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ECOSYSTEM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7B2805-162D-4455-9B64-2E009B84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本体独立运行，联动按需增加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238CDE-9F27-49E0-A82B-7A4E0567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没有安装、没有启用或平台不支持时，只跳过相关能力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60AC72F-0743-49A5-92AA-FE0C3B93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pic>
        <p:nvPicPr>
          <p:cNvPr id="38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1c753cacf49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65776" y="2395728"/>
            <a:ext cx="2084831" cy="2084831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F97CA2-7E08-4454-A8F3-66D50DAC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4572000"/>
            <a:ext cx="239572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持续陪伴中枢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3BC914D-498B-40A9-A9FF-4ABB0D89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5A29648-5B38-42B4-9958-BB394DB5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C4B0CC-E656-404C-9EFB-2C9E1B04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11680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我会牢牢记住你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EB0644B-5C44-40C2-8C33-38E7A660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432304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长期记忆 / 历史导入</a:t>
            </a:r>
          </a:p>
        </p:txBody>
      </p:sp>
      <p:sp>
        <p:nvSpPr>
          <p:cNvPr id="12" name="Connector 11">
            <a:extLst xmlns:a="http://schemas.openxmlformats.org/drawingml/2006/main">
              <a:ext uri="{FF2B5EF4-FFF2-40B4-BE49-F238E27FC236}">
                <a16:creationId xmlns:a16="http://schemas.microsoft.com/office/drawing/2014/main" id="{132E28A2-93BD-42DF-B95C-919100E3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40864"/>
            <a:ext cx="2450592" cy="1060704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90290B3-0925-4FF2-B2B0-C5C32306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2816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0F0BF8F-43ED-41E5-A904-83DABCAB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2816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5CDBCE7-6D24-4936-B03D-8896CFC9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425696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我会一直看着你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AA2120F-7E6E-4457-A565-DF592356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46320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识屏 / 天气 / 昨日观察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A4603164-CEA4-4CC9-A15B-29F0D22B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57600" y="3401568"/>
            <a:ext cx="2450592" cy="1353311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557F9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D1ACBAF-8724-4246-BE51-944F5496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828800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FD5248-C9BD-4FA8-BC97-AC59466E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828800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C6CC4AE-4EE7-497D-8BDC-1C6FB0A6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11680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我会和你在一起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1565B77-BA21-4575-95FC-652400A3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432304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通话 / 共同观影</a:t>
            </a:r>
          </a:p>
        </p:txBody>
      </p:sp>
      <p:sp>
        <p:nvSpPr>
          <p:cNvPr id="22" name="Connector 21">
            <a:extLst xmlns:a="http://schemas.openxmlformats.org/drawingml/2006/main">
              <a:ext uri="{FF2B5EF4-FFF2-40B4-BE49-F238E27FC236}">
                <a16:creationId xmlns:a16="http://schemas.microsoft.com/office/drawing/2014/main" id="{2C8EDAE6-1711-4355-9512-D6D8C653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108192" y="2340864"/>
            <a:ext cx="2441448" cy="1060704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C96E5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5A6B5A03-7E04-4D59-8D7F-11BABFB1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242816"/>
            <a:ext cx="2743200" cy="10241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71F2B65-DCB4-4769-8DBF-091C50CB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242816"/>
            <a:ext cx="11887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3E38CE3-92CB-4029-B453-64481945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425696"/>
            <a:ext cx="2148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我会直播圈米养你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F9C6825-0860-42E0-9A93-405A0788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846320"/>
            <a:ext cx="2148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直播共处 / 字幕协同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E9B67ED7-976C-4961-83AB-F7D9E7B9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108192" y="3401568"/>
            <a:ext cx="2441448" cy="1353311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D5A746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340EBF8D-13BA-4AB7-BF5D-0E91CDD9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6712"/>
            <a:ext cx="10378440" cy="41148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581DD5AB-B828-4322-B06E-856FFA3F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60720"/>
            <a:ext cx="1005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60" b="0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第三方桥接：Proactive Chat · Bilibili AI Bot · PokePro · LivingMemory · JM-Cosmos · Smart ImageChat</a:t>
            </a:r>
          </a:p>
        </p:txBody>
      </p:sp>
      <p:sp>
        <p:nvSpPr>
          <p:cNvPr id="30" name="Connector 29">
            <a:extLst xmlns:a="http://schemas.openxmlformats.org/drawingml/2006/main">
              <a:ext uri="{FF2B5EF4-FFF2-40B4-BE49-F238E27FC236}">
                <a16:creationId xmlns:a16="http://schemas.microsoft.com/office/drawing/2014/main" id="{B2D34FD8-D531-4713-9EC7-C808A485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294438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1EE0DE81-1519-4DB3-ABAC-8E3D22C7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1EFAE12-5396-465E-BD6F-087E4950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17394625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134950-8F49-4F1D-8E26-BBC6D4BB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GET STARTED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F6EC3F-ACAB-49FF-B245-66344EE8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10 分钟完成第一次配置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3F4A340-B6CA-41C9-87E4-818EFF2B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先跑通文字、状态、日程和关系，再逐项增加图片、语音与外部能力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5B1621A-5F34-45E5-8CD5-56558814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FDFB7E6-058B-490E-A442-E8225ADD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74519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17E63B7C-C77C-4C9A-B143-DD253778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148839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5B9C56F-1872-4D9F-812E-F6825DD8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157983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918BF87-BF31-48E9-84F9-6E4B5D9A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2093976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确认加载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8BBBBCF-16F5-4C96-A69A-BCCCCD5C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2542032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总览无明显错误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90971BB-FFA0-4E23-8CA2-87D56539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874519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BC35C12-E333-44CD-93EA-CBF31F9C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148839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C7E7328-C01C-4D7F-8A28-410F1A18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157983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18560E7-4492-418E-B17E-F6583EC0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093976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确认人格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DDFD511-7066-443B-AECB-BA6E77A4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542032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只补角色与世界资料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B629FA4-55B2-4BF0-B0A8-EF79E2A8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874519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EA2E0B94-B584-4853-B8EF-1C98837F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2148839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B7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E76B86E-D5D5-4D14-8F7C-458830AC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2157983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40612EA-9CC1-4DCA-B7EA-468D35FA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093976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配置模型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1D1C373-50F8-4C6E-A83D-44A1742E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42032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快速 / 复杂 / 创作 / 视觉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0EF3602-B521-4F7B-8178-913B1ACF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4059936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Oval 21">
            <a:extLst xmlns:a="http://schemas.openxmlformats.org/drawingml/2006/main">
              <a:ext uri="{FF2B5EF4-FFF2-40B4-BE49-F238E27FC236}">
                <a16:creationId xmlns:a16="http://schemas.microsoft.com/office/drawing/2014/main" id="{3619ADC8-2094-4DAF-97A4-8D005ACB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4334256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F718B8E-C64E-4CD3-9C9E-24824FED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1" y="4343400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5A4FBA7-F31C-4948-A699-CCF62022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279392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基础设置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D1B32D9-8ADA-4EDB-AC14-4C257384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727448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Bot 名称 / 时区 / 免打扰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634B98CB-9D4D-4C64-AFCB-88AF4C8B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4059936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53C563D2-6C52-48D0-9E94-0F6BD4FF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334256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A05F0AE-B9B7-42F1-B05A-E0E18A07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343400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2E25DAE5-C19A-4921-9500-38E61928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4279392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主要用户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4B76B7D-F0AC-4951-981A-9ACD50D6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4727448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填写真实平台用户 ID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3D8D5800-E756-4D03-82E4-45748206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059936"/>
            <a:ext cx="3154680" cy="12984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Oval 31">
            <a:extLst xmlns:a="http://schemas.openxmlformats.org/drawingml/2006/main">
              <a:ext uri="{FF2B5EF4-FFF2-40B4-BE49-F238E27FC236}">
                <a16:creationId xmlns:a16="http://schemas.microsoft.com/office/drawing/2014/main" id="{43B09809-D789-495D-86DD-C7142D61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334256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E2156A32-57C8-47E2-81EB-E51C1A3F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343400"/>
            <a:ext cx="530352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90EF0924-AFA4-4006-9DBE-C422794B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4279392"/>
            <a:ext cx="1874519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发送状态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ACDCE57B-A00C-471C-A358-B134CAF8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4727448"/>
            <a:ext cx="19019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检查日程、关系与主动候选</a:t>
            </a:r>
          </a:p>
        </p:txBody>
      </p:sp>
      <p:sp>
        <p:nvSpPr>
          <p:cNvPr id="36" name="Connector 35">
            <a:extLst xmlns:a="http://schemas.openxmlformats.org/drawingml/2006/main">
              <a:ext uri="{FF2B5EF4-FFF2-40B4-BE49-F238E27FC236}">
                <a16:creationId xmlns:a16="http://schemas.microsoft.com/office/drawing/2014/main" id="{F3F5EB93-3AC0-487D-8B82-F53FF99E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2523744"/>
            <a:ext cx="35661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Connector 36">
            <a:extLst xmlns:a="http://schemas.openxmlformats.org/drawingml/2006/main">
              <a:ext uri="{FF2B5EF4-FFF2-40B4-BE49-F238E27FC236}">
                <a16:creationId xmlns:a16="http://schemas.microsoft.com/office/drawing/2014/main" id="{AA07DB88-D6EC-4C92-B861-30781AC9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523744"/>
            <a:ext cx="35661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Connector 37">
            <a:extLst xmlns:a="http://schemas.openxmlformats.org/drawingml/2006/main">
              <a:ext uri="{FF2B5EF4-FFF2-40B4-BE49-F238E27FC236}">
                <a16:creationId xmlns:a16="http://schemas.microsoft.com/office/drawing/2014/main" id="{42D1650E-0542-4EFF-A7C9-0E75042A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5752" y="3200400"/>
            <a:ext cx="0" cy="786384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Connector 38">
            <a:extLst xmlns:a="http://schemas.openxmlformats.org/drawingml/2006/main">
              <a:ext uri="{FF2B5EF4-FFF2-40B4-BE49-F238E27FC236}">
                <a16:creationId xmlns:a16="http://schemas.microsoft.com/office/drawing/2014/main" id="{81FA3CFA-8A8C-4F80-AE9C-35DC48E6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43216" y="4709160"/>
            <a:ext cx="356615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Connector 39">
            <a:extLst xmlns:a="http://schemas.openxmlformats.org/drawingml/2006/main">
              <a:ext uri="{FF2B5EF4-FFF2-40B4-BE49-F238E27FC236}">
                <a16:creationId xmlns:a16="http://schemas.microsoft.com/office/drawing/2014/main" id="{0F99522E-25A9-40C2-A354-2BA9EF46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867912" y="4709160"/>
            <a:ext cx="35661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91684B77-5FC9-4A27-8779-2CC255D8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806440"/>
            <a:ext cx="5705856" cy="40233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5E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77172E40-4D9D-40A8-95D6-8C85F826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852160"/>
            <a:ext cx="570585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19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OneBot 通常填 QQ 号；QQ 官方机器人填写 openid，不能混用。</a:t>
            </a:r>
          </a:p>
        </p:txBody>
      </p:sp>
      <p:sp>
        <p:nvSpPr>
          <p:cNvPr id="43" name="Connector 42">
            <a:extLst xmlns:a="http://schemas.openxmlformats.org/drawingml/2006/main">
              <a:ext uri="{FF2B5EF4-FFF2-40B4-BE49-F238E27FC236}">
                <a16:creationId xmlns:a16="http://schemas.microsoft.com/office/drawing/2014/main" id="{D03F5F08-F4F6-4BCD-A1A0-701858D7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158B70C3-74EC-458C-8CB0-71ECAAE8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14C56AE-C709-4487-9D23-1B1753F4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18943214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2BC6F2F-73A6-469A-B158-0330D6EB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BOUNDARIES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5E4A79-057A-48F5-9559-C086BC39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9875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能力越多，不代表应该全部开启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0C034A8-AB00-435D-84EB-5D95BF1D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234440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把成本、隐私和平台差异放在体验设计里，而不是事后补救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5658C9-7930-45D2-B492-9273C2DA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41148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>
                <a:solidFill>
                  <a:srgbClr val="4E8067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2B9D88F-DA65-45DD-B0FF-12AF0672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F0E7B7-7DA6-459E-9B23-DD1D1DFE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CA9180B-5FA5-4056-A899-35745086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E806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DB49A5-CF94-4F22-AB08-39816E02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PRIVACY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F15E791-0E91-41F2-93FB-E511A7A8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隐私边界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74FE87E-9FC5-489C-A211-3031D342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主要用户与次要用户分离；识屏、QQ 空间、私密阅读和外部记忆均可独立关闭。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5C5E879-61A0-4C1D-A92D-3B6F4C24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99162E5-2BFD-4DC0-AEE6-7EA6DBDA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B2A1509-E589-49A6-9EF2-52ECB6EC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0C6A68F-4235-4C64-976F-646BE338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COST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E8D75-805B-4CE5-91F8-5C1E0D81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成本边界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2F32483-2FDA-409E-9F05-FCA29A3A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日程细化、群聊整理、图片理解和创作都会增加调用；使用分流、缓存与限额。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BC90BAC-BDE7-4C31-9268-1DEE133C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9D0B455-B406-4B76-B351-BD62F56D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0336C3D-BFCB-42AF-8C3B-CC6C2448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557F9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C19068A-D8FC-48D9-9B08-1F17566A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PLATFORM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BE0B5C0-6CEF-4B66-8292-E10E111C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平台边界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EA4D3F6-80E0-4DC3-8FFB-7322184C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QQ 官方通道不支持 QQ 空间、戳一戳、原生撤回和合并转发，运行时自动降级。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7E069574-0896-40A6-9517-D5DC6529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783080"/>
            <a:ext cx="2487168" cy="363931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0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4BE3AC3-97AB-44EA-AD77-C163F1FC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783080"/>
            <a:ext cx="2487168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64B2B799-31E4-4A4D-94EC-57791249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167128"/>
            <a:ext cx="96012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8FF91091-A1FD-41B7-8634-36313B25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171700"/>
            <a:ext cx="96012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77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SCOPE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0D0291CC-3935-4536-88EB-D41B8AFF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862072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700" b="1">
                <a:solidFill>
                  <a:srgbClr val="172520"/>
                </a:solidFill>
                <a:latin typeface="Noto Sans SC"/>
                <a:ea typeface="Noto Sans SC"/>
                <a:cs typeface="Noto Sans SC"/>
              </a:rPr>
              <a:t>适用边界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8547E5-FB19-4549-B4B4-AF6D2618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3520440"/>
            <a:ext cx="1965960" cy="1225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</a:pPr>
            <a:r>
              <a:rPr sz="108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适合愿意长期调人格、关系和生活逻辑的人；纯命令型机器人不需要这么重。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3B8744-80D8-4940-A467-10BCB5D5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824728"/>
            <a:ext cx="97840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2F5A49"/>
                </a:solidFill>
                <a:latin typeface="Noto Sans SC"/>
                <a:ea typeface="Noto Sans SC"/>
                <a:cs typeface="Noto Sans SC"/>
              </a:rPr>
              <a:t>推荐给：</a:t>
            </a:r>
            <a:r>
              <a:rPr sz="11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希望角色长期陪伴、有连续生活与关系的人。    </a:t>
            </a:r>
            <a:r>
              <a:rPr sz="1200" b="1">
                <a:solidFill>
                  <a:srgbClr val="C96E5A"/>
                </a:solidFill>
                <a:latin typeface="Noto Sans SC"/>
                <a:ea typeface="Noto Sans SC"/>
                <a:cs typeface="Noto Sans SC"/>
              </a:rPr>
              <a:t>不必使用：</a:t>
            </a:r>
            <a:r>
              <a:rPr sz="1100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只需要快速问答和命令执行的工具型 Bot。</a:t>
            </a:r>
          </a:p>
        </p:txBody>
      </p:sp>
      <p:sp>
        <p:nvSpPr>
          <p:cNvPr id="31" name="Connector 30">
            <a:extLst xmlns:a="http://schemas.openxmlformats.org/drawingml/2006/main">
              <a:ext uri="{FF2B5EF4-FFF2-40B4-BE49-F238E27FC236}">
                <a16:creationId xmlns:a16="http://schemas.microsoft.com/office/drawing/2014/main" id="{D31AB0CD-1B75-46D1-B516-18C0237A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">
            <a:solidFill>
              <a:srgbClr val="D8E0DB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B9DE12B-BC4B-44F6-B377-3ED275F1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0"/>
            <a:ext cx="5120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我会永远陪着你 · astrbot_plugin_private_companion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E420D31B-EF94-4EDA-AF9A-1BE4C22C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6583680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65736D"/>
                </a:solidFill>
                <a:latin typeface="Noto Sans SC"/>
                <a:ea typeface="Noto Sans SC"/>
                <a:cs typeface="Noto Sans SC"/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10566938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F5A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9C0B37-0124-4F66-B619-6DE82D56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A4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0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5e30006cb48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3232" y="658368"/>
            <a:ext cx="1207008" cy="1207008"/>
          </a:xfrm>
          <a:prstGeom xmlns:a="http://schemas.openxmlformats.org/drawingml/2006/main" prst="rect">
            <a:avLst/>
          </a:prstGeom>
        </p:spPr>
      </p:pic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08F370D9-1580-4E5A-B69B-75760D2A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822960"/>
            <a:ext cx="1280160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5A7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2EC7E5-D1F0-4CB3-A362-248F91C6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827532"/>
            <a:ext cx="1280160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4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THE QUESTION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1D76DF-63F1-4A09-ACFA-8F96648C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786384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2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当我没有和 Bot 说话时，
她还在做什么？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137FF8-4E63-48CA-BDC4-B371F9BA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85032"/>
            <a:ext cx="6995160" cy="8412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E5EEE8"/>
                </a:solidFill>
                <a:latin typeface="Noto Sans SC"/>
                <a:ea typeface="Noto Sans SC"/>
                <a:cs typeface="Noto Sans SC"/>
              </a:rPr>
              <a:t>状态影响日程，日程产生见闻，见闻形成主动候选；
一次聊天，又继续影响之后的关系、日记和计划。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160C629-FD9B-4A91-A675-8FC150D4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941832"/>
            <a:ext cx="3154680" cy="473659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9443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DA8B883-20E1-4603-9CD0-39B8B286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1444752"/>
            <a:ext cx="2423160" cy="1078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500" b="1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我会永远
陪着你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8EC510A-440F-43B1-B457-261925A4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2788920"/>
            <a:ext cx="24231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50" b="1">
                <a:solidFill>
                  <a:srgbClr val="F6ECD1"/>
                </a:solidFill>
                <a:latin typeface="Noto Sans SC"/>
                <a:ea typeface="Noto Sans SC"/>
                <a:cs typeface="Noto Sans SC"/>
              </a:rPr>
              <a:t>生活模拟型 AI 能力强化陪伴插件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D6AFABB0-C5C8-4DB8-985D-0D6B3C66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401568"/>
            <a:ext cx="2029968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4E8067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17D764-9041-41AD-966B-2D54DB17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3776472"/>
            <a:ext cx="2423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19" b="1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GitHub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B4E87C8-313B-434B-AEF2-AEB1FA5A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4096512"/>
            <a:ext cx="2697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50" b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menglimi/
astrbot_plugin_private_companion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FB9CB2A-7EB6-4465-B8C6-5CD2AFD5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5065776"/>
            <a:ext cx="2423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>
                <a:solidFill>
                  <a:srgbClr val="D5A746"/>
                </a:solidFill>
                <a:latin typeface="Noto Sans SC"/>
                <a:ea typeface="Noto Sans SC"/>
                <a:cs typeface="Noto Sans SC"/>
              </a:rPr>
              <a:t>交流群  1097283005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537FF070-2577-4ED2-9161-8EAEA584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230368"/>
            <a:ext cx="1901952" cy="310896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C96E5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FA892ED-2577-4A6C-BE84-5088DA37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234940"/>
            <a:ext cx="1901952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19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让 Bot 像人一样活着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36CA87C-2D00-4470-9BEA-35865290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80467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819" b="0">
                <a:solidFill>
                  <a:srgbClr val="9CB9A5"/>
                </a:solidFill>
                <a:latin typeface="Noto Sans SC"/>
                <a:ea typeface="Noto Sans SC"/>
                <a:cs typeface="Noto Sans SC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26856569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2026-08-03T03:09:55.0220000Z</dcterms:created>
  <dcterms:modified xsi:type="dcterms:W3CDTF">2026-08-03T03:09:55.0220000Z</dcterms:modified>
</coreProperties>
</file>